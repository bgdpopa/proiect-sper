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1E2761"/>
                </a:solidFill>
                <a:latin typeface="Arial"/>
              </a:defRPr>
            </a:pPr>
            <a:r>
              <a:rPr sz="1300" b="0" i="0" u="none" strike="noStrike">
                <a:solidFill>
                  <a:srgbClr val="1E2761"/>
                </a:solidFill>
                <a:latin typeface="Arial"/>
              </a:rPr>
              <a:t>Lungime totală traiectorie vs R_min</a:t>
            </a:r>
          </a:p>
        </c:rich>
      </c:tx>
      <c:overlay val="0"/>
    </c:title>
    <c:autoTitleDeleted val="0"/>
    <c:plotArea>
      <c:layout/>
      <c:barChart>
        <c:barDir val="col"/>
        <c:grouping val="clustered"/>
        <c:varyColors val="0"/>
        <c:ser>
          <c:idx val="0"/>
          <c:order val="0"/>
          <c:tx>
            <c:strRef>
              <c:f>Sheet1!$B$1</c:f>
              <c:strCache>
                <c:ptCount val="1"/>
                <c:pt idx="0">
                  <c:v>Puține puncte (5)</c:v>
                </c:pt>
              </c:strCache>
            </c:strRef>
          </c:tx>
          <c:spPr>
            <a:solidFill>
              <a:srgbClr val="B85042"/>
            </a:solidFill>
            <a:effectLst/>
          </c:spPr>
          <c:invertIfNegative val="0"/>
          <c:cat>
            <c:strRef>
              <c:f>Sheet1!$A$2:$A$5</c:f>
              <c:strCache>
                <c:ptCount val="4"/>
                <c:pt idx="0">
                  <c:v>R = 0.5</c:v>
                </c:pt>
                <c:pt idx="1">
                  <c:v>R = 1</c:v>
                </c:pt>
                <c:pt idx="2">
                  <c:v>R = 2</c:v>
                </c:pt>
                <c:pt idx="3">
                  <c:v>R = 5</c:v>
                </c:pt>
              </c:strCache>
            </c:strRef>
          </c:cat>
          <c:val>
            <c:numRef>
              <c:f>Sheet1!$B$2:$B$5</c:f>
              <c:numCache>
                <c:formatCode>General</c:formatCode>
                <c:ptCount val="4"/>
                <c:pt idx="0">
                  <c:v>9.85</c:v>
                </c:pt>
                <c:pt idx="1">
                  <c:v>15.88</c:v>
                </c:pt>
                <c:pt idx="2">
                  <c:v>31.59</c:v>
                </c:pt>
                <c:pt idx="3">
                  <c:v>71.92</c:v>
                </c:pt>
              </c:numCache>
            </c:numRef>
          </c:val>
          <c:extLst>
            <c:ext xmlns:c16="http://schemas.microsoft.com/office/drawing/2014/chart" uri="{C3380CC4-5D6E-409C-BE32-E72D297353CC}">
              <c16:uniqueId val="{00000000-50E0-4C69-9B5B-E16AE456E92A}"/>
            </c:ext>
          </c:extLst>
        </c:ser>
        <c:ser>
          <c:idx val="1"/>
          <c:order val="1"/>
          <c:tx>
            <c:strRef>
              <c:f>Sheet1!$C$1</c:f>
              <c:strCache>
                <c:ptCount val="1"/>
                <c:pt idx="0">
                  <c:v>Multe puncte (12)</c:v>
                </c:pt>
              </c:strCache>
            </c:strRef>
          </c:tx>
          <c:spPr>
            <a:solidFill>
              <a:srgbClr val="50808E"/>
            </a:solidFill>
            <a:effectLst/>
          </c:spPr>
          <c:invertIfNegative val="0"/>
          <c:cat>
            <c:strRef>
              <c:f>Sheet1!$A$2:$A$5</c:f>
              <c:strCache>
                <c:ptCount val="4"/>
                <c:pt idx="0">
                  <c:v>R = 0.5</c:v>
                </c:pt>
                <c:pt idx="1">
                  <c:v>R = 1</c:v>
                </c:pt>
                <c:pt idx="2">
                  <c:v>R = 2</c:v>
                </c:pt>
                <c:pt idx="3">
                  <c:v>R = 5</c:v>
                </c:pt>
              </c:strCache>
            </c:strRef>
          </c:cat>
          <c:val>
            <c:numRef>
              <c:f>Sheet1!$C$2:$C$5</c:f>
              <c:numCache>
                <c:formatCode>General</c:formatCode>
                <c:ptCount val="4"/>
                <c:pt idx="0">
                  <c:v>25.77</c:v>
                </c:pt>
                <c:pt idx="1">
                  <c:v>54.86</c:v>
                </c:pt>
                <c:pt idx="2">
                  <c:v>137.43</c:v>
                </c:pt>
                <c:pt idx="3">
                  <c:v>329.35</c:v>
                </c:pt>
              </c:numCache>
            </c:numRef>
          </c:val>
          <c:extLst>
            <c:ext xmlns:c16="http://schemas.microsoft.com/office/drawing/2014/chart" uri="{C3380CC4-5D6E-409C-BE32-E72D297353CC}">
              <c16:uniqueId val="{00000001-50E0-4C69-9B5B-E16AE456E92A}"/>
            </c:ext>
          </c:extLst>
        </c:ser>
        <c:ser>
          <c:idx val="2"/>
          <c:order val="2"/>
          <c:tx>
            <c:strRef>
              <c:f>Sheet1!$D$1</c:f>
              <c:strCache>
                <c:ptCount val="1"/>
                <c:pt idx="0">
                  <c:v>Circular (10)</c:v>
                </c:pt>
              </c:strCache>
            </c:strRef>
          </c:tx>
          <c:spPr>
            <a:solidFill>
              <a:srgbClr val="2C5F2D"/>
            </a:solidFill>
            <a:effectLst/>
          </c:spPr>
          <c:invertIfNegative val="0"/>
          <c:cat>
            <c:strRef>
              <c:f>Sheet1!$A$2:$A$5</c:f>
              <c:strCache>
                <c:ptCount val="4"/>
                <c:pt idx="0">
                  <c:v>R = 0.5</c:v>
                </c:pt>
                <c:pt idx="1">
                  <c:v>R = 1</c:v>
                </c:pt>
                <c:pt idx="2">
                  <c:v>R = 2</c:v>
                </c:pt>
                <c:pt idx="3">
                  <c:v>R = 5</c:v>
                </c:pt>
              </c:strCache>
            </c:strRef>
          </c:cat>
          <c:val>
            <c:numRef>
              <c:f>Sheet1!$D$2:$D$5</c:f>
              <c:numCache>
                <c:formatCode>General</c:formatCode>
                <c:ptCount val="4"/>
                <c:pt idx="0">
                  <c:v>11.33</c:v>
                </c:pt>
                <c:pt idx="1">
                  <c:v>61.15</c:v>
                </c:pt>
                <c:pt idx="2">
                  <c:v>111.27</c:v>
                </c:pt>
                <c:pt idx="3">
                  <c:v>262.05</c:v>
                </c:pt>
              </c:numCache>
            </c:numRef>
          </c:val>
          <c:extLst>
            <c:ext xmlns:c16="http://schemas.microsoft.com/office/drawing/2014/chart" uri="{C3380CC4-5D6E-409C-BE32-E72D297353CC}">
              <c16:uniqueId val="{00000002-50E0-4C69-9B5B-E16AE456E9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93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551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B85042"/>
          </a:solidFill>
          <a:ln/>
        </p:spPr>
      </p:sp>
      <p:sp>
        <p:nvSpPr>
          <p:cNvPr id="3" name="Text 1"/>
          <p:cNvSpPr/>
          <p:nvPr/>
        </p:nvSpPr>
        <p:spPr>
          <a:xfrm>
            <a:off x="914400" y="1645920"/>
            <a:ext cx="10058400" cy="365760"/>
          </a:xfrm>
          <a:prstGeom prst="rect">
            <a:avLst/>
          </a:prstGeom>
          <a:noFill/>
          <a:ln/>
        </p:spPr>
        <p:txBody>
          <a:bodyPr wrap="square" rtlCol="0" anchor="ctr"/>
          <a:lstStyle/>
          <a:p>
            <a:pPr marL="0" indent="0">
              <a:buNone/>
            </a:pPr>
            <a:r>
              <a:rPr lang="en-US" sz="1400" b="1" kern="0" spc="400" dirty="0">
                <a:solidFill>
                  <a:srgbClr val="B85042"/>
                </a:solidFill>
                <a:latin typeface="Calibri" pitchFamily="34" charset="0"/>
                <a:ea typeface="Calibri" pitchFamily="34" charset="-122"/>
                <a:cs typeface="Calibri" pitchFamily="34" charset="-120"/>
              </a:rPr>
              <a:t>PROIECT SPER · 2026</a:t>
            </a:r>
            <a:endParaRPr lang="en-US" sz="1400" dirty="0"/>
          </a:p>
        </p:txBody>
      </p:sp>
      <p:sp>
        <p:nvSpPr>
          <p:cNvPr id="4" name="Text 2"/>
          <p:cNvSpPr/>
          <p:nvPr/>
        </p:nvSpPr>
        <p:spPr>
          <a:xfrm>
            <a:off x="914400" y="2103120"/>
            <a:ext cx="10058400" cy="18288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Planificare traiectorii Dubins</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cu ordonare TSP</a:t>
            </a:r>
            <a:endParaRPr lang="en-US" sz="4800" dirty="0"/>
          </a:p>
        </p:txBody>
      </p:sp>
      <p:sp>
        <p:nvSpPr>
          <p:cNvPr id="5" name="Text 3"/>
          <p:cNvSpPr/>
          <p:nvPr/>
        </p:nvSpPr>
        <p:spPr>
          <a:xfrm>
            <a:off x="914400" y="4114800"/>
            <a:ext cx="10058400" cy="457200"/>
          </a:xfrm>
          <a:prstGeom prst="rect">
            <a:avLst/>
          </a:prstGeom>
          <a:noFill/>
          <a:ln/>
        </p:spPr>
        <p:txBody>
          <a:bodyPr wrap="square" rtlCol="0" anchor="ctr"/>
          <a:lstStyle/>
          <a:p>
            <a:pPr marL="0" indent="0">
              <a:buNone/>
            </a:pPr>
            <a:r>
              <a:rPr lang="en-US" sz="1800" i="1" dirty="0">
                <a:solidFill>
                  <a:srgbClr val="E7E8D1"/>
                </a:solidFill>
                <a:latin typeface="Calibri" pitchFamily="34" charset="0"/>
                <a:ea typeface="Calibri" pitchFamily="34" charset="-122"/>
                <a:cs typeface="Calibri" pitchFamily="34" charset="-120"/>
              </a:rPr>
              <a:t>Curbe optime între waypoints pentru un vehicul cu rază minimă de viraj</a:t>
            </a:r>
            <a:endParaRPr lang="en-US" sz="1800" dirty="0"/>
          </a:p>
        </p:txBody>
      </p:sp>
      <p:sp>
        <p:nvSpPr>
          <p:cNvPr id="6" name="Shape 4"/>
          <p:cNvSpPr/>
          <p:nvPr/>
        </p:nvSpPr>
        <p:spPr>
          <a:xfrm>
            <a:off x="914400" y="5029200"/>
            <a:ext cx="2286000" cy="0"/>
          </a:xfrm>
          <a:prstGeom prst="line">
            <a:avLst/>
          </a:prstGeom>
          <a:noFill/>
          <a:ln w="38100">
            <a:solidFill>
              <a:srgbClr val="B85042"/>
            </a:solidFill>
            <a:prstDash val="solid"/>
          </a:ln>
        </p:spPr>
      </p:sp>
      <p:sp>
        <p:nvSpPr>
          <p:cNvPr id="7" name="Text 5"/>
          <p:cNvSpPr/>
          <p:nvPr/>
        </p:nvSpPr>
        <p:spPr>
          <a:xfrm>
            <a:off x="914400" y="5212080"/>
            <a:ext cx="10058400" cy="365760"/>
          </a:xfrm>
          <a:prstGeom prst="rect">
            <a:avLst/>
          </a:prstGeom>
          <a:noFill/>
          <a:ln/>
        </p:spPr>
        <p:txBody>
          <a:bodyPr wrap="square" rtlCol="0" anchor="ctr"/>
          <a:lstStyle/>
          <a:p>
            <a:r>
              <a:rPr lang="en-US" sz="1400" dirty="0" err="1">
                <a:solidFill>
                  <a:srgbClr val="FFFFFF"/>
                </a:solidFill>
                <a:latin typeface="Calibri" pitchFamily="34" charset="0"/>
                <a:ea typeface="Calibri" pitchFamily="34" charset="-122"/>
                <a:cs typeface="Calibri" pitchFamily="34" charset="-120"/>
              </a:rPr>
              <a:t>Echipa</a:t>
            </a:r>
            <a:r>
              <a:rPr lang="en-US" sz="1400" dirty="0">
                <a:solidFill>
                  <a:srgbClr val="FFFFFF"/>
                </a:solidFill>
                <a:latin typeface="Calibri" pitchFamily="34" charset="0"/>
                <a:ea typeface="Calibri" pitchFamily="34" charset="-122"/>
                <a:cs typeface="Calibri" pitchFamily="34" charset="-120"/>
              </a:rPr>
              <a:t>: </a:t>
            </a:r>
            <a:r>
              <a:rPr lang="ro-RO" sz="1400" dirty="0">
                <a:solidFill>
                  <a:srgbClr val="FFFFFF"/>
                </a:solidFill>
                <a:latin typeface="Calibri" pitchFamily="34" charset="0"/>
                <a:ea typeface="Calibri" pitchFamily="34" charset="-122"/>
                <a:cs typeface="Calibri" pitchFamily="34" charset="-120"/>
              </a:rPr>
              <a:t>Matara Cristina</a:t>
            </a:r>
            <a:r>
              <a:rPr lang="en-US" sz="1400" dirty="0">
                <a:solidFill>
                  <a:srgbClr val="FFFFFF"/>
                </a:solidFill>
                <a:latin typeface="Calibri" pitchFamily="34" charset="0"/>
                <a:ea typeface="Calibri" pitchFamily="34" charset="-122"/>
                <a:cs typeface="Calibri" pitchFamily="34" charset="-120"/>
              </a:rPr>
              <a:t> · </a:t>
            </a:r>
            <a:r>
              <a:rPr lang="ro-RO" sz="1400" dirty="0">
                <a:solidFill>
                  <a:srgbClr val="FFFFFF"/>
                </a:solidFill>
                <a:latin typeface="Calibri" pitchFamily="34" charset="0"/>
                <a:ea typeface="Calibri" pitchFamily="34" charset="-122"/>
                <a:cs typeface="Calibri" pitchFamily="34" charset="-120"/>
              </a:rPr>
              <a:t>Petrache Alexia</a:t>
            </a:r>
            <a:r>
              <a:rPr lang="en-US" sz="1400" dirty="0">
                <a:solidFill>
                  <a:srgbClr val="FFFFFF"/>
                </a:solidFill>
                <a:latin typeface="Calibri" pitchFamily="34" charset="0"/>
                <a:ea typeface="Calibri" pitchFamily="34" charset="-122"/>
                <a:cs typeface="Calibri" pitchFamily="34" charset="-120"/>
              </a:rPr>
              <a:t> · </a:t>
            </a:r>
            <a:r>
              <a:rPr lang="ro-RO" sz="1400" dirty="0">
                <a:solidFill>
                  <a:srgbClr val="FFFFFF"/>
                </a:solidFill>
                <a:latin typeface="Calibri" pitchFamily="34" charset="0"/>
                <a:ea typeface="Calibri" pitchFamily="34" charset="-122"/>
                <a:cs typeface="Calibri" pitchFamily="34" charset="-120"/>
              </a:rPr>
              <a:t>Preda Ana Popa Bogdan</a:t>
            </a:r>
            <a:endParaRPr lang="en-US" sz="1400" dirty="0"/>
          </a:p>
          <a:p>
            <a:pPr marL="0" indent="0">
              <a:buNone/>
            </a:pPr>
            <a:endParaRPr lang="en-US" sz="1400" dirty="0"/>
          </a:p>
        </p:txBody>
      </p:sp>
      <p:sp>
        <p:nvSpPr>
          <p:cNvPr id="8" name="Text 6"/>
          <p:cNvSpPr/>
          <p:nvPr/>
        </p:nvSpPr>
        <p:spPr>
          <a:xfrm>
            <a:off x="914400" y="5577840"/>
            <a:ext cx="10058400" cy="365760"/>
          </a:xfrm>
          <a:prstGeom prst="rect">
            <a:avLst/>
          </a:prstGeom>
          <a:noFill/>
          <a:ln/>
        </p:spPr>
        <p:txBody>
          <a:bodyPr wrap="square" rtlCol="0" anchor="ctr"/>
          <a:lstStyle/>
          <a:p>
            <a:pPr marL="0" indent="0">
              <a:buNone/>
            </a:pPr>
            <a:r>
              <a:rPr lang="en-US" sz="1300" dirty="0">
                <a:solidFill>
                  <a:srgbClr val="E7E8D1"/>
                </a:solidFill>
                <a:latin typeface="Calibri" pitchFamily="34" charset="0"/>
                <a:ea typeface="Calibri" pitchFamily="34" charset="-122"/>
                <a:cs typeface="Calibri" pitchFamily="34" charset="-120"/>
              </a:rPr>
              <a:t>Curs:</a:t>
            </a:r>
            <a:r>
              <a:rPr lang="ro-RO" sz="1300" dirty="0">
                <a:solidFill>
                  <a:srgbClr val="E7E8D1"/>
                </a:solidFill>
                <a:latin typeface="Calibri" pitchFamily="34" charset="0"/>
                <a:ea typeface="Calibri" pitchFamily="34" charset="-122"/>
                <a:cs typeface="Calibri" pitchFamily="34" charset="-120"/>
              </a:rPr>
              <a:t>Strategii de planificare a unei echipe de roboti</a:t>
            </a:r>
            <a:endParaRPr lang="en-US" sz="1300" dirty="0"/>
          </a:p>
        </p:txBody>
      </p:sp>
      <p:sp>
        <p:nvSpPr>
          <p:cNvPr id="9" name="Text 7"/>
          <p:cNvSpPr/>
          <p:nvPr/>
        </p:nvSpPr>
        <p:spPr>
          <a:xfrm>
            <a:off x="914400" y="5943600"/>
            <a:ext cx="10058400" cy="365760"/>
          </a:xfrm>
          <a:prstGeom prst="rect">
            <a:avLst/>
          </a:prstGeom>
          <a:noFill/>
          <a:ln/>
        </p:spPr>
        <p:txBody>
          <a:bodyPr wrap="square" rtlCol="0" anchor="ctr"/>
          <a:lstStyle/>
          <a:p>
            <a:pPr marL="0" indent="0">
              <a:buNone/>
            </a:pPr>
            <a:r>
              <a:rPr lang="en-US" sz="1200" dirty="0">
                <a:solidFill>
                  <a:srgbClr val="6B6B6B"/>
                </a:solidFill>
                <a:latin typeface="Calibri" pitchFamily="34" charset="0"/>
                <a:ea typeface="Calibri" pitchFamily="34" charset="-122"/>
                <a:cs typeface="Calibri" pitchFamily="34" charset="-120"/>
              </a:rPr>
              <a:t>15 mai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Ce este modelul Dubins?</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Vehicul cu viteză constantă și rază minimă de viraj</a:t>
            </a:r>
            <a:endParaRPr lang="en-US" sz="1400" dirty="0"/>
          </a:p>
        </p:txBody>
      </p:sp>
      <p:sp>
        <p:nvSpPr>
          <p:cNvPr id="5" name="Text 3"/>
          <p:cNvSpPr/>
          <p:nvPr/>
        </p:nvSpPr>
        <p:spPr>
          <a:xfrm>
            <a:off x="548640" y="1554480"/>
            <a:ext cx="5486400" cy="365760"/>
          </a:xfrm>
          <a:prstGeom prst="rect">
            <a:avLst/>
          </a:prstGeom>
          <a:noFill/>
          <a:ln/>
        </p:spPr>
        <p:txBody>
          <a:bodyPr wrap="square" rtlCol="0" anchor="ctr"/>
          <a:lstStyle/>
          <a:p>
            <a:pPr marL="0" indent="0">
              <a:buNone/>
            </a:pPr>
            <a:r>
              <a:rPr lang="en-US" sz="1800" b="1" dirty="0">
                <a:solidFill>
                  <a:srgbClr val="B85042"/>
                </a:solidFill>
                <a:latin typeface="Georgia" pitchFamily="34" charset="0"/>
                <a:ea typeface="Georgia" pitchFamily="34" charset="-122"/>
                <a:cs typeface="Georgia" pitchFamily="34" charset="-120"/>
              </a:rPr>
              <a:t>Intuitiv</a:t>
            </a:r>
            <a:endParaRPr lang="en-US" sz="1800" dirty="0"/>
          </a:p>
        </p:txBody>
      </p:sp>
      <p:sp>
        <p:nvSpPr>
          <p:cNvPr id="6" name="Text 4"/>
          <p:cNvSpPr/>
          <p:nvPr/>
        </p:nvSpPr>
        <p:spPr>
          <a:xfrm>
            <a:off x="548640" y="2011680"/>
            <a:ext cx="5486400" cy="365760"/>
          </a:xfrm>
          <a:prstGeom prst="rect">
            <a:avLst/>
          </a:prstGeom>
          <a:noFill/>
          <a:ln/>
        </p:spPr>
        <p:txBody>
          <a:bodyPr wrap="square" lIns="0" tIns="0" rIns="0" bIns="0" rtlCol="0" anchor="ctr"/>
          <a:lstStyle/>
          <a:p>
            <a:pPr marL="0" indent="0">
              <a:buNone/>
            </a:pPr>
            <a:r>
              <a:rPr lang="en-US" sz="1400" dirty="0">
                <a:solidFill>
                  <a:srgbClr val="2A2A2A"/>
                </a:solidFill>
                <a:latin typeface="Calibri" pitchFamily="34" charset="0"/>
                <a:ea typeface="Calibri" pitchFamily="34" charset="-122"/>
                <a:cs typeface="Calibri" pitchFamily="34" charset="-120"/>
              </a:rPr>
              <a:t>O mașină / dronă care:</a:t>
            </a:r>
            <a:endParaRPr lang="en-US" sz="1400" dirty="0"/>
          </a:p>
        </p:txBody>
      </p:sp>
      <p:sp>
        <p:nvSpPr>
          <p:cNvPr id="7" name="Text 5"/>
          <p:cNvSpPr/>
          <p:nvPr/>
        </p:nvSpPr>
        <p:spPr>
          <a:xfrm>
            <a:off x="548640" y="2377440"/>
            <a:ext cx="5486400" cy="2011680"/>
          </a:xfrm>
          <a:prstGeom prst="rect">
            <a:avLst/>
          </a:prstGeom>
          <a:noFill/>
          <a:ln/>
        </p:spPr>
        <p:txBody>
          <a:bodyPr wrap="square" rtlCol="0" anchor="ctr"/>
          <a:lstStyle/>
          <a:p>
            <a:pPr marL="342900" indent="-342900">
              <a:spcAft>
                <a:spcPts val="800"/>
              </a:spcAft>
              <a:buSzPct val="100000"/>
              <a:buChar char="•"/>
            </a:pPr>
            <a:r>
              <a:rPr lang="en-US" sz="1400" dirty="0">
                <a:solidFill>
                  <a:srgbClr val="2A2A2A"/>
                </a:solidFill>
                <a:latin typeface="Calibri" pitchFamily="34" charset="0"/>
                <a:ea typeface="Calibri" pitchFamily="34" charset="-122"/>
                <a:cs typeface="Calibri" pitchFamily="34" charset="-120"/>
              </a:rPr>
              <a:t>merge înainte cu viteză constantă</a:t>
            </a:r>
            <a:endParaRPr lang="en-US" sz="1400" dirty="0"/>
          </a:p>
          <a:p>
            <a:pPr marL="342900" indent="-342900">
              <a:spcAft>
                <a:spcPts val="800"/>
              </a:spcAft>
              <a:buSzPct val="100000"/>
              <a:buChar char="•"/>
            </a:pPr>
            <a:r>
              <a:rPr lang="en-US" sz="1400" dirty="0">
                <a:solidFill>
                  <a:srgbClr val="2A2A2A"/>
                </a:solidFill>
                <a:latin typeface="Calibri" pitchFamily="34" charset="0"/>
                <a:ea typeface="Calibri" pitchFamily="34" charset="-122"/>
                <a:cs typeface="Calibri" pitchFamily="34" charset="-120"/>
              </a:rPr>
              <a:t>NU poate face întoarceri mai strânse decât raza R_min</a:t>
            </a:r>
            <a:endParaRPr lang="en-US" sz="1400" dirty="0"/>
          </a:p>
          <a:p>
            <a:pPr marL="342900" indent="-342900">
              <a:spcAft>
                <a:spcPts val="800"/>
              </a:spcAft>
              <a:buSzPct val="100000"/>
              <a:buChar char="•"/>
            </a:pPr>
            <a:r>
              <a:rPr lang="en-US" sz="1400" dirty="0">
                <a:solidFill>
                  <a:srgbClr val="2A2A2A"/>
                </a:solidFill>
                <a:latin typeface="Calibri" pitchFamily="34" charset="0"/>
                <a:ea typeface="Calibri" pitchFamily="34" charset="-122"/>
                <a:cs typeface="Calibri" pitchFamily="34" charset="-120"/>
              </a:rPr>
              <a:t>trebuie să ajungă într-o poziție ȘI cu o orientare anume</a:t>
            </a:r>
            <a:endParaRPr lang="en-US" sz="1400" dirty="0"/>
          </a:p>
        </p:txBody>
      </p:sp>
      <p:sp>
        <p:nvSpPr>
          <p:cNvPr id="8" name="Shape 6"/>
          <p:cNvSpPr/>
          <p:nvPr/>
        </p:nvSpPr>
        <p:spPr>
          <a:xfrm>
            <a:off x="548640" y="4480560"/>
            <a:ext cx="5486400" cy="1737360"/>
          </a:xfrm>
          <a:prstGeom prst="rect">
            <a:avLst/>
          </a:prstGeom>
          <a:solidFill>
            <a:srgbClr val="E7E8D1"/>
          </a:solidFill>
          <a:ln/>
        </p:spPr>
      </p:sp>
      <p:sp>
        <p:nvSpPr>
          <p:cNvPr id="9" name="Shape 7"/>
          <p:cNvSpPr/>
          <p:nvPr/>
        </p:nvSpPr>
        <p:spPr>
          <a:xfrm>
            <a:off x="548640" y="4480560"/>
            <a:ext cx="91440" cy="1737360"/>
          </a:xfrm>
          <a:prstGeom prst="rect">
            <a:avLst/>
          </a:prstGeom>
          <a:solidFill>
            <a:srgbClr val="B85042"/>
          </a:solidFill>
          <a:ln/>
        </p:spPr>
      </p:sp>
      <p:sp>
        <p:nvSpPr>
          <p:cNvPr id="10" name="Text 8"/>
          <p:cNvSpPr/>
          <p:nvPr/>
        </p:nvSpPr>
        <p:spPr>
          <a:xfrm>
            <a:off x="822960" y="4572000"/>
            <a:ext cx="5029200" cy="365760"/>
          </a:xfrm>
          <a:prstGeom prst="rect">
            <a:avLst/>
          </a:prstGeom>
          <a:noFill/>
          <a:ln/>
        </p:spPr>
        <p:txBody>
          <a:bodyPr wrap="square" rtlCol="0" anchor="ctr"/>
          <a:lstStyle/>
          <a:p>
            <a:pPr marL="0" indent="0">
              <a:buNone/>
            </a:pPr>
            <a:r>
              <a:rPr lang="en-US" sz="1400" b="1" dirty="0">
                <a:solidFill>
                  <a:srgbClr val="8B3A30"/>
                </a:solidFill>
                <a:latin typeface="Calibri" pitchFamily="34" charset="0"/>
                <a:ea typeface="Calibri" pitchFamily="34" charset="-122"/>
                <a:cs typeface="Calibri" pitchFamily="34" charset="-120"/>
              </a:rPr>
              <a:t>Configurație Dubins</a:t>
            </a:r>
            <a:endParaRPr lang="en-US" sz="1400" dirty="0"/>
          </a:p>
        </p:txBody>
      </p:sp>
      <p:sp>
        <p:nvSpPr>
          <p:cNvPr id="11" name="Text 9"/>
          <p:cNvSpPr/>
          <p:nvPr/>
        </p:nvSpPr>
        <p:spPr>
          <a:xfrm>
            <a:off x="822960" y="4937760"/>
            <a:ext cx="5029200" cy="1280160"/>
          </a:xfrm>
          <a:prstGeom prst="rect">
            <a:avLst/>
          </a:prstGeom>
          <a:noFill/>
          <a:ln/>
        </p:spPr>
        <p:txBody>
          <a:bodyPr wrap="square" rtlCol="0" anchor="ctr"/>
          <a:lstStyle/>
          <a:p>
            <a:pPr marL="0" indent="0">
              <a:spcAft>
                <a:spcPts val="400"/>
              </a:spcAft>
              <a:buNone/>
            </a:pPr>
            <a:r>
              <a:rPr lang="en-US" sz="1800" b="1" dirty="0">
                <a:solidFill>
                  <a:srgbClr val="2A2A2A"/>
                </a:solidFill>
                <a:latin typeface="Calibri" pitchFamily="34" charset="0"/>
                <a:ea typeface="Calibri" pitchFamily="34" charset="-122"/>
                <a:cs typeface="Calibri" pitchFamily="34" charset="-120"/>
              </a:rPr>
              <a:t>q = (x, y, θ)</a:t>
            </a:r>
            <a:endParaRPr lang="en-US" sz="1300" dirty="0"/>
          </a:p>
          <a:p>
            <a:pPr marL="0" indent="0">
              <a:spcAft>
                <a:spcPts val="400"/>
              </a:spcAft>
              <a:buNone/>
            </a:pPr>
            <a:r>
              <a:rPr lang="en-US" sz="1300" dirty="0">
                <a:solidFill>
                  <a:srgbClr val="2A2A2A"/>
                </a:solidFill>
                <a:latin typeface="Calibri" pitchFamily="34" charset="0"/>
                <a:ea typeface="Calibri" pitchFamily="34" charset="-122"/>
                <a:cs typeface="Calibri" pitchFamily="34" charset="-120"/>
              </a:rPr>
              <a:t>x, y — poziția în plan</a:t>
            </a:r>
            <a:endParaRPr lang="en-US" sz="1300" dirty="0"/>
          </a:p>
          <a:p>
            <a:pPr marL="0" indent="0">
              <a:spcAft>
                <a:spcPts val="400"/>
              </a:spcAft>
              <a:buNone/>
            </a:pPr>
            <a:r>
              <a:rPr lang="en-US" sz="1300" dirty="0">
                <a:solidFill>
                  <a:srgbClr val="2A2A2A"/>
                </a:solidFill>
                <a:latin typeface="Calibri" pitchFamily="34" charset="0"/>
                <a:ea typeface="Calibri" pitchFamily="34" charset="-122"/>
                <a:cs typeface="Calibri" pitchFamily="34" charset="-120"/>
              </a:rPr>
              <a:t>θ — orientarea (radiani, 0 = axa +x)</a:t>
            </a:r>
            <a:endParaRPr lang="en-US" sz="1300" dirty="0"/>
          </a:p>
        </p:txBody>
      </p:sp>
      <p:sp>
        <p:nvSpPr>
          <p:cNvPr id="12" name="Shape 10"/>
          <p:cNvSpPr/>
          <p:nvPr/>
        </p:nvSpPr>
        <p:spPr>
          <a:xfrm>
            <a:off x="7132320" y="2011680"/>
            <a:ext cx="4114800" cy="4114800"/>
          </a:xfrm>
          <a:prstGeom prst="ellipse">
            <a:avLst/>
          </a:prstGeom>
          <a:solidFill>
            <a:srgbClr val="FFFFFF"/>
          </a:solidFill>
          <a:ln w="25400">
            <a:solidFill>
              <a:srgbClr val="B85042"/>
            </a:solidFill>
            <a:prstDash val="solid"/>
          </a:ln>
        </p:spPr>
      </p:sp>
      <p:sp>
        <p:nvSpPr>
          <p:cNvPr id="13" name="Shape 11"/>
          <p:cNvSpPr/>
          <p:nvPr/>
        </p:nvSpPr>
        <p:spPr>
          <a:xfrm>
            <a:off x="9144000" y="4023360"/>
            <a:ext cx="146304" cy="146304"/>
          </a:xfrm>
          <a:prstGeom prst="ellipse">
            <a:avLst/>
          </a:prstGeom>
          <a:solidFill>
            <a:srgbClr val="B85042"/>
          </a:solidFill>
          <a:ln/>
        </p:spPr>
      </p:sp>
      <p:sp>
        <p:nvSpPr>
          <p:cNvPr id="14" name="Shape 12"/>
          <p:cNvSpPr/>
          <p:nvPr/>
        </p:nvSpPr>
        <p:spPr>
          <a:xfrm>
            <a:off x="9217152" y="4096512"/>
            <a:ext cx="2029968" cy="0"/>
          </a:xfrm>
          <a:prstGeom prst="line">
            <a:avLst/>
          </a:prstGeom>
          <a:noFill/>
          <a:ln w="25400">
            <a:solidFill>
              <a:srgbClr val="B85042"/>
            </a:solidFill>
            <a:prstDash val="dash"/>
          </a:ln>
        </p:spPr>
      </p:sp>
      <p:sp>
        <p:nvSpPr>
          <p:cNvPr id="15" name="Text 13"/>
          <p:cNvSpPr/>
          <p:nvPr/>
        </p:nvSpPr>
        <p:spPr>
          <a:xfrm>
            <a:off x="9692640" y="3657600"/>
            <a:ext cx="1097280" cy="365760"/>
          </a:xfrm>
          <a:prstGeom prst="rect">
            <a:avLst/>
          </a:prstGeom>
          <a:noFill/>
          <a:ln/>
        </p:spPr>
        <p:txBody>
          <a:bodyPr wrap="square" rtlCol="0" anchor="ctr"/>
          <a:lstStyle/>
          <a:p>
            <a:pPr marL="0" indent="0" algn="ctr">
              <a:buNone/>
            </a:pPr>
            <a:r>
              <a:rPr lang="en-US" sz="1600" b="1" i="1" dirty="0">
                <a:solidFill>
                  <a:srgbClr val="B85042"/>
                </a:solidFill>
                <a:latin typeface="Georgia" pitchFamily="34" charset="0"/>
                <a:ea typeface="Georgia" pitchFamily="34" charset="-122"/>
                <a:cs typeface="Georgia" pitchFamily="34" charset="-120"/>
              </a:rPr>
              <a:t>R_min</a:t>
            </a:r>
            <a:endParaRPr lang="en-US" sz="1600" dirty="0"/>
          </a:p>
        </p:txBody>
      </p:sp>
      <p:sp>
        <p:nvSpPr>
          <p:cNvPr id="16" name="Text 14"/>
          <p:cNvSpPr/>
          <p:nvPr/>
        </p:nvSpPr>
        <p:spPr>
          <a:xfrm>
            <a:off x="6400800" y="6263640"/>
            <a:ext cx="5486400" cy="320040"/>
          </a:xfrm>
          <a:prstGeom prst="rect">
            <a:avLst/>
          </a:prstGeom>
          <a:noFill/>
          <a:ln/>
        </p:spPr>
        <p:txBody>
          <a:bodyPr wrap="square"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Cerc de rază minimă = cea mai strânsă întoarcere posibilă</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Primitivele CSC și CCC</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Orice traiectorie Dubins optimă e o combinație din 6 tipuri</a:t>
            </a:r>
            <a:endParaRPr lang="en-US" sz="1400" dirty="0"/>
          </a:p>
        </p:txBody>
      </p:sp>
      <p:sp>
        <p:nvSpPr>
          <p:cNvPr id="5" name="Shape 3"/>
          <p:cNvSpPr/>
          <p:nvPr/>
        </p:nvSpPr>
        <p:spPr>
          <a:xfrm>
            <a:off x="548640" y="1417320"/>
            <a:ext cx="5486400" cy="822960"/>
          </a:xfrm>
          <a:prstGeom prst="rect">
            <a:avLst/>
          </a:prstGeom>
          <a:solidFill>
            <a:srgbClr val="B85042"/>
          </a:solidFill>
          <a:ln/>
        </p:spPr>
      </p:sp>
      <p:sp>
        <p:nvSpPr>
          <p:cNvPr id="6" name="Text 4"/>
          <p:cNvSpPr/>
          <p:nvPr/>
        </p:nvSpPr>
        <p:spPr>
          <a:xfrm>
            <a:off x="731520" y="1463040"/>
            <a:ext cx="5303520" cy="3657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CSC  </a:t>
            </a:r>
            <a:r>
              <a:rPr lang="en-US" sz="1400" i="1" dirty="0">
                <a:solidFill>
                  <a:srgbClr val="E7E8D1"/>
                </a:solidFill>
                <a:latin typeface="Georgia" pitchFamily="34" charset="0"/>
                <a:ea typeface="Georgia" pitchFamily="34" charset="-122"/>
                <a:cs typeface="Georgia" pitchFamily="34" charset="-120"/>
              </a:rPr>
              <a:t>— Curve · Straight · Curve</a:t>
            </a:r>
            <a:endParaRPr lang="en-US" sz="2200" dirty="0"/>
          </a:p>
        </p:txBody>
      </p:sp>
      <p:sp>
        <p:nvSpPr>
          <p:cNvPr id="7" name="Text 5"/>
          <p:cNvSpPr/>
          <p:nvPr/>
        </p:nvSpPr>
        <p:spPr>
          <a:xfrm>
            <a:off x="731520" y="1828800"/>
            <a:ext cx="53035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LSL, LSR, RSL, RSR — arc + dreaptă + arc</a:t>
            </a:r>
            <a:endParaRPr lang="en-US" sz="1200" dirty="0"/>
          </a:p>
        </p:txBody>
      </p:sp>
      <p:sp>
        <p:nvSpPr>
          <p:cNvPr id="8" name="Shape 6"/>
          <p:cNvSpPr/>
          <p:nvPr/>
        </p:nvSpPr>
        <p:spPr>
          <a:xfrm>
            <a:off x="6217920" y="1417320"/>
            <a:ext cx="5486400" cy="822960"/>
          </a:xfrm>
          <a:prstGeom prst="rect">
            <a:avLst/>
          </a:prstGeom>
          <a:solidFill>
            <a:srgbClr val="50808E"/>
          </a:solidFill>
          <a:ln/>
        </p:spPr>
      </p:sp>
      <p:sp>
        <p:nvSpPr>
          <p:cNvPr id="9" name="Text 7"/>
          <p:cNvSpPr/>
          <p:nvPr/>
        </p:nvSpPr>
        <p:spPr>
          <a:xfrm>
            <a:off x="6400800" y="1463040"/>
            <a:ext cx="5303520" cy="3657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CCC  </a:t>
            </a:r>
            <a:r>
              <a:rPr lang="en-US" sz="1400" i="1" dirty="0">
                <a:solidFill>
                  <a:srgbClr val="E7E8D1"/>
                </a:solidFill>
                <a:latin typeface="Georgia" pitchFamily="34" charset="0"/>
                <a:ea typeface="Georgia" pitchFamily="34" charset="-122"/>
                <a:cs typeface="Georgia" pitchFamily="34" charset="-120"/>
              </a:rPr>
              <a:t>— Curve · Curve · Curve</a:t>
            </a:r>
            <a:endParaRPr lang="en-US" sz="2200" dirty="0"/>
          </a:p>
        </p:txBody>
      </p:sp>
      <p:sp>
        <p:nvSpPr>
          <p:cNvPr id="10" name="Text 8"/>
          <p:cNvSpPr/>
          <p:nvPr/>
        </p:nvSpPr>
        <p:spPr>
          <a:xfrm>
            <a:off x="6400800" y="1828800"/>
            <a:ext cx="53035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RLR, LRL — trei arce (pentru distanțe mici)</a:t>
            </a:r>
            <a:endParaRPr lang="en-US" sz="1200" dirty="0"/>
          </a:p>
        </p:txBody>
      </p:sp>
      <p:pic>
        <p:nvPicPr>
          <p:cNvPr id="11" name="Image 0" descr="/home/claude/project/figures/primitives_csc_ccc.png"/>
          <p:cNvPicPr>
            <a:picLocks noChangeAspect="1"/>
          </p:cNvPicPr>
          <p:nvPr/>
        </p:nvPicPr>
        <p:blipFill>
          <a:blip r:embed="rId3"/>
          <a:stretch>
            <a:fillRect/>
          </a:stretch>
        </p:blipFill>
        <p:spPr>
          <a:xfrm>
            <a:off x="1371600" y="2423160"/>
            <a:ext cx="9418320" cy="4114800"/>
          </a:xfrm>
          <a:prstGeom prst="rect">
            <a:avLst/>
          </a:prstGeom>
        </p:spPr>
      </p:pic>
      <p:sp>
        <p:nvSpPr>
          <p:cNvPr id="12" name="Text 9"/>
          <p:cNvSpPr/>
          <p:nvPr/>
        </p:nvSpPr>
        <p:spPr>
          <a:xfrm>
            <a:off x="548640" y="6492240"/>
            <a:ext cx="11064240" cy="274320"/>
          </a:xfrm>
          <a:prstGeom prst="rect">
            <a:avLst/>
          </a:prstGeom>
          <a:noFill/>
          <a:ln/>
        </p:spPr>
        <p:txBody>
          <a:bodyPr wrap="square" rtlCol="0" anchor="ctr"/>
          <a:lstStyle/>
          <a:p>
            <a:pPr marL="0" indent="0" algn="ctr">
              <a:buNone/>
            </a:pPr>
            <a:r>
              <a:rPr lang="en-US" sz="1000" i="1" dirty="0">
                <a:solidFill>
                  <a:srgbClr val="6B6B6B"/>
                </a:solidFill>
                <a:latin typeface="Calibri" pitchFamily="34" charset="0"/>
                <a:ea typeface="Calibri" pitchFamily="34" charset="-122"/>
                <a:cs typeface="Calibri" pitchFamily="34" charset="-120"/>
              </a:rPr>
              <a:t>L = stânga · R = dreapta · S = drept · La rază minimă, motorul alege automat varianta cu cost minim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Problema punctelor intermediare</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Cum vizităm o listă de waypoints cu o traiectorie continuă?</a:t>
            </a:r>
            <a:endParaRPr lang="en-US" sz="1400" dirty="0"/>
          </a:p>
        </p:txBody>
      </p:sp>
      <p:sp>
        <p:nvSpPr>
          <p:cNvPr id="5" name="Shape 3"/>
          <p:cNvSpPr/>
          <p:nvPr/>
        </p:nvSpPr>
        <p:spPr>
          <a:xfrm>
            <a:off x="411480" y="1645920"/>
            <a:ext cx="3657600" cy="292608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6" name="Shape 4"/>
          <p:cNvSpPr/>
          <p:nvPr/>
        </p:nvSpPr>
        <p:spPr>
          <a:xfrm>
            <a:off x="777240" y="2011680"/>
            <a:ext cx="731520" cy="731520"/>
          </a:xfrm>
          <a:prstGeom prst="ellipse">
            <a:avLst/>
          </a:prstGeom>
          <a:solidFill>
            <a:srgbClr val="B85042"/>
          </a:solidFill>
          <a:ln/>
        </p:spPr>
      </p:sp>
      <p:sp>
        <p:nvSpPr>
          <p:cNvPr id="7" name="Text 5"/>
          <p:cNvSpPr/>
          <p:nvPr/>
        </p:nvSpPr>
        <p:spPr>
          <a:xfrm>
            <a:off x="777240" y="20116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685800" y="2926080"/>
            <a:ext cx="3108960" cy="45720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Punct de start</a:t>
            </a:r>
            <a:endParaRPr lang="en-US" sz="1800" dirty="0"/>
          </a:p>
        </p:txBody>
      </p:sp>
      <p:sp>
        <p:nvSpPr>
          <p:cNvPr id="9" name="Text 7"/>
          <p:cNvSpPr/>
          <p:nvPr/>
        </p:nvSpPr>
        <p:spPr>
          <a:xfrm>
            <a:off x="685800" y="3429000"/>
            <a:ext cx="3108960" cy="1005840"/>
          </a:xfrm>
          <a:prstGeom prst="rect">
            <a:avLst/>
          </a:prstGeom>
          <a:noFill/>
          <a:ln/>
        </p:spPr>
        <p:txBody>
          <a:bodyPr wrap="square" rtlCol="0" anchor="ctr"/>
          <a:lstStyle/>
          <a:p>
            <a:pPr marL="0" indent="0">
              <a:buNone/>
            </a:pPr>
            <a:r>
              <a:rPr lang="en-US" sz="1300" dirty="0">
                <a:solidFill>
                  <a:srgbClr val="2A2A2A"/>
                </a:solidFill>
                <a:latin typeface="Calibri" pitchFamily="34" charset="0"/>
                <a:ea typeface="Calibri" pitchFamily="34" charset="-122"/>
                <a:cs typeface="Calibri" pitchFamily="34" charset="-120"/>
              </a:rPr>
              <a:t>Cunoaștem o listă de puncte (x, y) de vizitat în plan. Vehiculul trebuie să treacă prin fiecare exact o singură dată.</a:t>
            </a:r>
            <a:endParaRPr lang="en-US" sz="1300" dirty="0"/>
          </a:p>
        </p:txBody>
      </p:sp>
      <p:sp>
        <p:nvSpPr>
          <p:cNvPr id="10" name="Shape 8"/>
          <p:cNvSpPr/>
          <p:nvPr/>
        </p:nvSpPr>
        <p:spPr>
          <a:xfrm>
            <a:off x="4251960" y="1645920"/>
            <a:ext cx="3657600" cy="292608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11" name="Shape 9"/>
          <p:cNvSpPr/>
          <p:nvPr/>
        </p:nvSpPr>
        <p:spPr>
          <a:xfrm>
            <a:off x="4617720" y="2011680"/>
            <a:ext cx="731520" cy="731520"/>
          </a:xfrm>
          <a:prstGeom prst="ellipse">
            <a:avLst/>
          </a:prstGeom>
          <a:solidFill>
            <a:srgbClr val="B85042"/>
          </a:solidFill>
          <a:ln/>
        </p:spPr>
      </p:sp>
      <p:sp>
        <p:nvSpPr>
          <p:cNvPr id="12" name="Text 10"/>
          <p:cNvSpPr/>
          <p:nvPr/>
        </p:nvSpPr>
        <p:spPr>
          <a:xfrm>
            <a:off x="4617720" y="20116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3" name="Text 11"/>
          <p:cNvSpPr/>
          <p:nvPr/>
        </p:nvSpPr>
        <p:spPr>
          <a:xfrm>
            <a:off x="4526280" y="2926080"/>
            <a:ext cx="3108960" cy="45720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Ordonare TSP</a:t>
            </a:r>
            <a:endParaRPr lang="en-US" sz="1800" dirty="0"/>
          </a:p>
        </p:txBody>
      </p:sp>
      <p:sp>
        <p:nvSpPr>
          <p:cNvPr id="14" name="Text 12"/>
          <p:cNvSpPr/>
          <p:nvPr/>
        </p:nvSpPr>
        <p:spPr>
          <a:xfrm>
            <a:off x="4526280" y="3429000"/>
            <a:ext cx="3108960" cy="1005840"/>
          </a:xfrm>
          <a:prstGeom prst="rect">
            <a:avLst/>
          </a:prstGeom>
          <a:noFill/>
          <a:ln/>
        </p:spPr>
        <p:txBody>
          <a:bodyPr wrap="square" rtlCol="0" anchor="ctr"/>
          <a:lstStyle/>
          <a:p>
            <a:pPr marL="0" indent="0">
              <a:buNone/>
            </a:pPr>
            <a:r>
              <a:rPr lang="en-US" sz="1300" dirty="0">
                <a:solidFill>
                  <a:srgbClr val="2A2A2A"/>
                </a:solidFill>
                <a:latin typeface="Calibri" pitchFamily="34" charset="0"/>
                <a:ea typeface="Calibri" pitchFamily="34" charset="-122"/>
                <a:cs typeface="Calibri" pitchFamily="34" charset="-120"/>
              </a:rPr>
              <a:t>Calculăm ordinea de parcurgere. Folosim heuristica nearest-neighbor: mergem mereu la cel mai apropiat punct nevizitat.</a:t>
            </a:r>
            <a:endParaRPr lang="en-US" sz="1300" dirty="0"/>
          </a:p>
        </p:txBody>
      </p:sp>
      <p:sp>
        <p:nvSpPr>
          <p:cNvPr id="15" name="Shape 13"/>
          <p:cNvSpPr/>
          <p:nvPr/>
        </p:nvSpPr>
        <p:spPr>
          <a:xfrm>
            <a:off x="8092440" y="1645920"/>
            <a:ext cx="3657600" cy="292608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16" name="Shape 14"/>
          <p:cNvSpPr/>
          <p:nvPr/>
        </p:nvSpPr>
        <p:spPr>
          <a:xfrm>
            <a:off x="8458200" y="2011680"/>
            <a:ext cx="731520" cy="731520"/>
          </a:xfrm>
          <a:prstGeom prst="ellipse">
            <a:avLst/>
          </a:prstGeom>
          <a:solidFill>
            <a:srgbClr val="B85042"/>
          </a:solidFill>
          <a:ln/>
        </p:spPr>
      </p:sp>
      <p:sp>
        <p:nvSpPr>
          <p:cNvPr id="17" name="Text 15"/>
          <p:cNvSpPr/>
          <p:nvPr/>
        </p:nvSpPr>
        <p:spPr>
          <a:xfrm>
            <a:off x="8458200" y="201168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18" name="Text 16"/>
          <p:cNvSpPr/>
          <p:nvPr/>
        </p:nvSpPr>
        <p:spPr>
          <a:xfrm>
            <a:off x="8366760" y="2926080"/>
            <a:ext cx="3108960" cy="45720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Concatenare Dubins</a:t>
            </a:r>
            <a:endParaRPr lang="en-US" sz="1800" dirty="0"/>
          </a:p>
        </p:txBody>
      </p:sp>
      <p:sp>
        <p:nvSpPr>
          <p:cNvPr id="19" name="Text 17"/>
          <p:cNvSpPr/>
          <p:nvPr/>
        </p:nvSpPr>
        <p:spPr>
          <a:xfrm>
            <a:off x="8366760" y="3429000"/>
            <a:ext cx="3108960" cy="1005840"/>
          </a:xfrm>
          <a:prstGeom prst="rect">
            <a:avLst/>
          </a:prstGeom>
          <a:noFill/>
          <a:ln/>
        </p:spPr>
        <p:txBody>
          <a:bodyPr wrap="square" rtlCol="0" anchor="ctr"/>
          <a:lstStyle/>
          <a:p>
            <a:pPr marL="0" indent="0">
              <a:buNone/>
            </a:pPr>
            <a:r>
              <a:rPr lang="en-US" sz="1300" dirty="0">
                <a:solidFill>
                  <a:srgbClr val="2A2A2A"/>
                </a:solidFill>
                <a:latin typeface="Calibri" pitchFamily="34" charset="0"/>
                <a:ea typeface="Calibri" pitchFamily="34" charset="-122"/>
                <a:cs typeface="Calibri" pitchFamily="34" charset="-120"/>
              </a:rPr>
              <a:t>Între fiecare pereche de puncte consecutive calculăm traiectoria Dubins optimă, ținând cont de orientări intermediare.</a:t>
            </a:r>
            <a:endParaRPr lang="en-US" sz="1300" dirty="0"/>
          </a:p>
        </p:txBody>
      </p:sp>
      <p:sp>
        <p:nvSpPr>
          <p:cNvPr id="20" name="Shape 18"/>
          <p:cNvSpPr/>
          <p:nvPr/>
        </p:nvSpPr>
        <p:spPr>
          <a:xfrm>
            <a:off x="411480" y="4846320"/>
            <a:ext cx="11338560" cy="1554480"/>
          </a:xfrm>
          <a:prstGeom prst="rect">
            <a:avLst/>
          </a:prstGeom>
          <a:solidFill>
            <a:srgbClr val="E7E8D1"/>
          </a:solidFill>
          <a:ln/>
        </p:spPr>
      </p:sp>
      <p:sp>
        <p:nvSpPr>
          <p:cNvPr id="21" name="Shape 19"/>
          <p:cNvSpPr/>
          <p:nvPr/>
        </p:nvSpPr>
        <p:spPr>
          <a:xfrm>
            <a:off x="411480" y="4846320"/>
            <a:ext cx="91440" cy="1554480"/>
          </a:xfrm>
          <a:prstGeom prst="rect">
            <a:avLst/>
          </a:prstGeom>
          <a:solidFill>
            <a:srgbClr val="B85042"/>
          </a:solidFill>
          <a:ln/>
        </p:spPr>
      </p:sp>
      <p:sp>
        <p:nvSpPr>
          <p:cNvPr id="22" name="Text 20"/>
          <p:cNvSpPr/>
          <p:nvPr/>
        </p:nvSpPr>
        <p:spPr>
          <a:xfrm>
            <a:off x="731520" y="4937760"/>
            <a:ext cx="10972800" cy="365760"/>
          </a:xfrm>
          <a:prstGeom prst="rect">
            <a:avLst/>
          </a:prstGeom>
          <a:noFill/>
          <a:ln/>
        </p:spPr>
        <p:txBody>
          <a:bodyPr wrap="square" rtlCol="0" anchor="ctr"/>
          <a:lstStyle/>
          <a:p>
            <a:pPr marL="0" indent="0">
              <a:buNone/>
            </a:pPr>
            <a:r>
              <a:rPr lang="en-US" sz="1600" b="1" dirty="0">
                <a:solidFill>
                  <a:srgbClr val="8B3A30"/>
                </a:solidFill>
                <a:latin typeface="Georgia" pitchFamily="34" charset="0"/>
                <a:ea typeface="Georgia" pitchFamily="34" charset="-122"/>
                <a:cs typeface="Georgia" pitchFamily="34" charset="-120"/>
              </a:rPr>
              <a:t>De ce nu doar linii drepte?</a:t>
            </a:r>
            <a:endParaRPr lang="en-US" sz="1600" dirty="0"/>
          </a:p>
        </p:txBody>
      </p:sp>
      <p:sp>
        <p:nvSpPr>
          <p:cNvPr id="23" name="Text 21"/>
          <p:cNvSpPr/>
          <p:nvPr/>
        </p:nvSpPr>
        <p:spPr>
          <a:xfrm>
            <a:off x="731520" y="5349240"/>
            <a:ext cx="10972800" cy="914400"/>
          </a:xfrm>
          <a:prstGeom prst="rect">
            <a:avLst/>
          </a:prstGeom>
          <a:noFill/>
          <a:ln/>
        </p:spPr>
        <p:txBody>
          <a:bodyPr wrap="square" rtlCol="0" anchor="ctr"/>
          <a:lstStyle/>
          <a:p>
            <a:pPr marL="0" indent="0">
              <a:buNone/>
            </a:pPr>
            <a:r>
              <a:rPr lang="en-US" sz="1300" dirty="0">
                <a:solidFill>
                  <a:srgbClr val="2A2A2A"/>
                </a:solidFill>
                <a:latin typeface="Calibri" pitchFamily="34" charset="0"/>
                <a:ea typeface="Calibri" pitchFamily="34" charset="-122"/>
                <a:cs typeface="Calibri" pitchFamily="34" charset="-120"/>
              </a:rPr>
              <a:t>O linie dreaptă între 2 puncte ignoră că vehiculul are o orientare curentă. Dubins gestionează simultan poziția ȘI orientarea — vehiculul nu poate „teleporta" în alt unghi de mers.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TSP + nearest-neighbor</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Travelling Salesman Problem — varianta simplă, greedy</a:t>
            </a:r>
            <a:endParaRPr lang="en-US" sz="1400" dirty="0"/>
          </a:p>
        </p:txBody>
      </p:sp>
      <p:sp>
        <p:nvSpPr>
          <p:cNvPr id="5" name="Text 3"/>
          <p:cNvSpPr/>
          <p:nvPr/>
        </p:nvSpPr>
        <p:spPr>
          <a:xfrm>
            <a:off x="548640" y="1554480"/>
            <a:ext cx="5029200" cy="365760"/>
          </a:xfrm>
          <a:prstGeom prst="rect">
            <a:avLst/>
          </a:prstGeom>
          <a:noFill/>
          <a:ln/>
        </p:spPr>
        <p:txBody>
          <a:bodyPr wrap="square" rtlCol="0" anchor="ctr"/>
          <a:lstStyle/>
          <a:p>
            <a:pPr marL="0" indent="0">
              <a:buNone/>
            </a:pPr>
            <a:r>
              <a:rPr lang="en-US" sz="1600" b="1" dirty="0">
                <a:solidFill>
                  <a:srgbClr val="B85042"/>
                </a:solidFill>
                <a:latin typeface="Georgia" pitchFamily="34" charset="0"/>
                <a:ea typeface="Georgia" pitchFamily="34" charset="-122"/>
                <a:cs typeface="Georgia" pitchFamily="34" charset="-120"/>
              </a:rPr>
              <a:t>Problema (TSP)</a:t>
            </a:r>
            <a:endParaRPr lang="en-US" sz="1600" dirty="0"/>
          </a:p>
        </p:txBody>
      </p:sp>
      <p:sp>
        <p:nvSpPr>
          <p:cNvPr id="6" name="Text 4"/>
          <p:cNvSpPr/>
          <p:nvPr/>
        </p:nvSpPr>
        <p:spPr>
          <a:xfrm>
            <a:off x="548640" y="1965960"/>
            <a:ext cx="5029200" cy="640080"/>
          </a:xfrm>
          <a:prstGeom prst="rect">
            <a:avLst/>
          </a:prstGeom>
          <a:noFill/>
          <a:ln/>
        </p:spPr>
        <p:txBody>
          <a:bodyPr wrap="square" rtlCol="0" anchor="ctr"/>
          <a:lstStyle/>
          <a:p>
            <a:pPr marL="0" indent="0">
              <a:buNone/>
            </a:pPr>
            <a:r>
              <a:rPr lang="en-US" sz="1300" dirty="0">
                <a:solidFill>
                  <a:srgbClr val="2A2A2A"/>
                </a:solidFill>
                <a:latin typeface="Calibri" pitchFamily="34" charset="0"/>
                <a:ea typeface="Calibri" pitchFamily="34" charset="-122"/>
                <a:cs typeface="Calibri" pitchFamily="34" charset="-120"/>
              </a:rPr>
              <a:t>Dată o listă de puncte, găsește ordinea care minimizează lungimea totală a turului.</a:t>
            </a:r>
            <a:endParaRPr lang="en-US" sz="1300" dirty="0"/>
          </a:p>
        </p:txBody>
      </p:sp>
      <p:sp>
        <p:nvSpPr>
          <p:cNvPr id="7" name="Text 5"/>
          <p:cNvSpPr/>
          <p:nvPr/>
        </p:nvSpPr>
        <p:spPr>
          <a:xfrm>
            <a:off x="548640" y="2788920"/>
            <a:ext cx="5029200" cy="365760"/>
          </a:xfrm>
          <a:prstGeom prst="rect">
            <a:avLst/>
          </a:prstGeom>
          <a:noFill/>
          <a:ln/>
        </p:spPr>
        <p:txBody>
          <a:bodyPr wrap="square" rtlCol="0" anchor="ctr"/>
          <a:lstStyle/>
          <a:p>
            <a:pPr marL="0" indent="0">
              <a:buNone/>
            </a:pPr>
            <a:r>
              <a:rPr lang="en-US" sz="1600" b="1" dirty="0">
                <a:solidFill>
                  <a:srgbClr val="B85042"/>
                </a:solidFill>
                <a:latin typeface="Georgia" pitchFamily="34" charset="0"/>
                <a:ea typeface="Georgia" pitchFamily="34" charset="-122"/>
                <a:cs typeface="Georgia" pitchFamily="34" charset="-120"/>
              </a:rPr>
              <a:t>Heuristica nearest-neighbor</a:t>
            </a:r>
            <a:endParaRPr lang="en-US" sz="1600" dirty="0"/>
          </a:p>
        </p:txBody>
      </p:sp>
      <p:sp>
        <p:nvSpPr>
          <p:cNvPr id="8" name="Text 6"/>
          <p:cNvSpPr/>
          <p:nvPr/>
        </p:nvSpPr>
        <p:spPr>
          <a:xfrm>
            <a:off x="548640" y="3200400"/>
            <a:ext cx="5029200" cy="1554480"/>
          </a:xfrm>
          <a:prstGeom prst="rect">
            <a:avLst/>
          </a:prstGeom>
          <a:noFill/>
          <a:ln/>
        </p:spPr>
        <p:txBody>
          <a:bodyPr wrap="square" rtlCol="0" anchor="ctr"/>
          <a:lstStyle/>
          <a:p>
            <a:pPr marL="342900" indent="-342900">
              <a:spcAft>
                <a:spcPts val="600"/>
              </a:spcAft>
              <a:buSzPct val="100000"/>
              <a:buFont typeface="+mj-lt"/>
              <a:buAutoNum type="arabicPeriod"/>
            </a:pPr>
            <a:r>
              <a:rPr lang="en-US" sz="1300" dirty="0">
                <a:solidFill>
                  <a:srgbClr val="2A2A2A"/>
                </a:solidFill>
                <a:latin typeface="Calibri" pitchFamily="34" charset="0"/>
                <a:ea typeface="Calibri" pitchFamily="34" charset="-122"/>
                <a:cs typeface="Calibri" pitchFamily="34" charset="-120"/>
              </a:rPr>
              <a:t>Alege un punct de start</a:t>
            </a:r>
            <a:endParaRPr lang="en-US" sz="1300" dirty="0"/>
          </a:p>
          <a:p>
            <a:pPr marL="342900" indent="-342900">
              <a:spcAft>
                <a:spcPts val="600"/>
              </a:spcAft>
              <a:buSzPct val="100000"/>
              <a:buFont typeface="+mj-lt"/>
              <a:buAutoNum type="arabicPeriod"/>
            </a:pPr>
            <a:r>
              <a:rPr lang="en-US" sz="1300" dirty="0">
                <a:solidFill>
                  <a:srgbClr val="2A2A2A"/>
                </a:solidFill>
                <a:latin typeface="Calibri" pitchFamily="34" charset="0"/>
                <a:ea typeface="Calibri" pitchFamily="34" charset="-122"/>
                <a:cs typeface="Calibri" pitchFamily="34" charset="-120"/>
              </a:rPr>
              <a:t>Du-te la cel mai apropiat punct nevizitat</a:t>
            </a:r>
            <a:endParaRPr lang="en-US" sz="1300" dirty="0"/>
          </a:p>
          <a:p>
            <a:pPr marL="342900" indent="-342900">
              <a:spcAft>
                <a:spcPts val="600"/>
              </a:spcAft>
              <a:buSzPct val="100000"/>
              <a:buFont typeface="+mj-lt"/>
              <a:buAutoNum type="arabicPeriod"/>
            </a:pPr>
            <a:r>
              <a:rPr lang="en-US" sz="1300" dirty="0">
                <a:solidFill>
                  <a:srgbClr val="2A2A2A"/>
                </a:solidFill>
                <a:latin typeface="Calibri" pitchFamily="34" charset="0"/>
                <a:ea typeface="Calibri" pitchFamily="34" charset="-122"/>
                <a:cs typeface="Calibri" pitchFamily="34" charset="-120"/>
              </a:rPr>
              <a:t>Repetă până vizitezi toate punctele</a:t>
            </a:r>
            <a:endParaRPr lang="en-US" sz="1300" dirty="0"/>
          </a:p>
        </p:txBody>
      </p:sp>
      <p:sp>
        <p:nvSpPr>
          <p:cNvPr id="9" name="Shape 7"/>
          <p:cNvSpPr/>
          <p:nvPr/>
        </p:nvSpPr>
        <p:spPr>
          <a:xfrm>
            <a:off x="548640" y="5029200"/>
            <a:ext cx="2423160" cy="1371600"/>
          </a:xfrm>
          <a:prstGeom prst="rect">
            <a:avLst/>
          </a:prstGeom>
          <a:solidFill>
            <a:srgbClr val="E8F0E8"/>
          </a:solidFill>
          <a:ln/>
        </p:spPr>
      </p:sp>
      <p:sp>
        <p:nvSpPr>
          <p:cNvPr id="10" name="Text 8"/>
          <p:cNvSpPr/>
          <p:nvPr/>
        </p:nvSpPr>
        <p:spPr>
          <a:xfrm>
            <a:off x="685800" y="5120640"/>
            <a:ext cx="2194560" cy="320040"/>
          </a:xfrm>
          <a:prstGeom prst="rect">
            <a:avLst/>
          </a:prstGeom>
          <a:noFill/>
          <a:ln/>
        </p:spPr>
        <p:txBody>
          <a:bodyPr wrap="square"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 Avantaje</a:t>
            </a:r>
            <a:endParaRPr lang="en-US" sz="1300" dirty="0"/>
          </a:p>
        </p:txBody>
      </p:sp>
      <p:sp>
        <p:nvSpPr>
          <p:cNvPr id="11" name="Text 9"/>
          <p:cNvSpPr/>
          <p:nvPr/>
        </p:nvSpPr>
        <p:spPr>
          <a:xfrm>
            <a:off x="685800" y="5440680"/>
            <a:ext cx="2194560" cy="91440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simplu, rapid,</a:t>
            </a: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soluție acceptabilă pentru cerință</a:t>
            </a:r>
            <a:endParaRPr lang="en-US" sz="1100" dirty="0"/>
          </a:p>
        </p:txBody>
      </p:sp>
      <p:sp>
        <p:nvSpPr>
          <p:cNvPr id="12" name="Shape 10"/>
          <p:cNvSpPr/>
          <p:nvPr/>
        </p:nvSpPr>
        <p:spPr>
          <a:xfrm>
            <a:off x="3154680" y="5029200"/>
            <a:ext cx="2514600" cy="1371600"/>
          </a:xfrm>
          <a:prstGeom prst="rect">
            <a:avLst/>
          </a:prstGeom>
          <a:solidFill>
            <a:srgbClr val="F5E5E0"/>
          </a:solidFill>
          <a:ln/>
        </p:spPr>
      </p:sp>
      <p:sp>
        <p:nvSpPr>
          <p:cNvPr id="13" name="Text 11"/>
          <p:cNvSpPr/>
          <p:nvPr/>
        </p:nvSpPr>
        <p:spPr>
          <a:xfrm>
            <a:off x="3291840" y="5120640"/>
            <a:ext cx="2286000" cy="320040"/>
          </a:xfrm>
          <a:prstGeom prst="rect">
            <a:avLst/>
          </a:prstGeom>
          <a:noFill/>
          <a:ln/>
        </p:spPr>
        <p:txBody>
          <a:bodyPr wrap="square" rtlCol="0" anchor="ctr"/>
          <a:lstStyle/>
          <a:p>
            <a:pPr marL="0" indent="0">
              <a:buNone/>
            </a:pPr>
            <a:r>
              <a:rPr lang="en-US" sz="1300" b="1" dirty="0">
                <a:solidFill>
                  <a:srgbClr val="8B3A30"/>
                </a:solidFill>
                <a:latin typeface="Calibri" pitchFamily="34" charset="0"/>
                <a:ea typeface="Calibri" pitchFamily="34" charset="-122"/>
                <a:cs typeface="Calibri" pitchFamily="34" charset="-120"/>
              </a:rPr>
              <a:t>✗ Limitări</a:t>
            </a:r>
            <a:endParaRPr lang="en-US" sz="1300" dirty="0"/>
          </a:p>
        </p:txBody>
      </p:sp>
      <p:sp>
        <p:nvSpPr>
          <p:cNvPr id="14" name="Text 12"/>
          <p:cNvSpPr/>
          <p:nvPr/>
        </p:nvSpPr>
        <p:spPr>
          <a:xfrm>
            <a:off x="3291840" y="5440680"/>
            <a:ext cx="2286000" cy="914400"/>
          </a:xfrm>
          <a:prstGeom prst="rect">
            <a:avLst/>
          </a:prstGeom>
          <a:noFill/>
          <a:ln/>
        </p:spPr>
        <p:txBody>
          <a:bodyPr wrap="square" rtlCol="0" anchor="ctr"/>
          <a:lstStyle/>
          <a:p>
            <a:pPr marL="0" indent="0">
              <a:buNone/>
            </a:pPr>
            <a:r>
              <a:rPr lang="en-US" sz="1100" dirty="0">
                <a:solidFill>
                  <a:srgbClr val="2A2A2A"/>
                </a:solidFill>
                <a:latin typeface="Calibri" pitchFamily="34" charset="0"/>
                <a:ea typeface="Calibri" pitchFamily="34" charset="-122"/>
                <a:cs typeface="Calibri" pitchFamily="34" charset="-120"/>
              </a:rPr>
              <a:t>nu e optim global,</a:t>
            </a:r>
            <a:endParaRPr lang="en-US" sz="1100" dirty="0"/>
          </a:p>
          <a:p>
            <a:pPr marL="0" indent="0">
              <a:buNone/>
            </a:pPr>
            <a:r>
              <a:rPr lang="en-US" sz="1100" dirty="0">
                <a:solidFill>
                  <a:srgbClr val="2A2A2A"/>
                </a:solidFill>
                <a:latin typeface="Calibri" pitchFamily="34" charset="0"/>
                <a:ea typeface="Calibri" pitchFamily="34" charset="-122"/>
                <a:cs typeface="Calibri" pitchFamily="34" charset="-120"/>
              </a:rPr>
              <a:t>ignoră obiectivul Dubins (doar distanța euclidiană)</a:t>
            </a:r>
            <a:endParaRPr lang="en-US" sz="1100" dirty="0"/>
          </a:p>
        </p:txBody>
      </p:sp>
      <p:pic>
        <p:nvPicPr>
          <p:cNvPr id="15" name="Image 0" descr="/home/claude/project/figures/tsp_nn_demo.png"/>
          <p:cNvPicPr>
            <a:picLocks noChangeAspect="1"/>
          </p:cNvPicPr>
          <p:nvPr/>
        </p:nvPicPr>
        <p:blipFill>
          <a:blip r:embed="rId3"/>
          <a:stretch>
            <a:fillRect/>
          </a:stretch>
        </p:blipFill>
        <p:spPr>
          <a:xfrm>
            <a:off x="5943600" y="1554480"/>
            <a:ext cx="5943600" cy="2926080"/>
          </a:xfrm>
          <a:prstGeom prst="rect">
            <a:avLst/>
          </a:prstGeom>
        </p:spPr>
      </p:pic>
      <p:sp>
        <p:nvSpPr>
          <p:cNvPr id="16" name="Text 13"/>
          <p:cNvSpPr/>
          <p:nvPr/>
        </p:nvSpPr>
        <p:spPr>
          <a:xfrm>
            <a:off x="5943600" y="4663440"/>
            <a:ext cx="5943600" cy="146304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Notă: TSP cu distanțe euclidiene ≠ optimizare directă a costului Dubins. La un set de puncte pe cerc, NN poate da rezultate mai proaste decât o ordine aleatoare.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Arhitectura codului</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Două module Python + notebook orchestrator</a:t>
            </a:r>
            <a:endParaRPr lang="en-US" sz="1400" dirty="0"/>
          </a:p>
        </p:txBody>
      </p:sp>
      <p:pic>
        <p:nvPicPr>
          <p:cNvPr id="5" name="Image 0" descr="/home/claude/project/figures/arhitectura.png"/>
          <p:cNvPicPr>
            <a:picLocks noChangeAspect="1"/>
          </p:cNvPicPr>
          <p:nvPr/>
        </p:nvPicPr>
        <p:blipFill>
          <a:blip r:embed="rId3"/>
          <a:stretch>
            <a:fillRect/>
          </a:stretch>
        </p:blipFill>
        <p:spPr>
          <a:xfrm>
            <a:off x="1188720" y="1371600"/>
            <a:ext cx="9784080" cy="5029200"/>
          </a:xfrm>
          <a:prstGeom prst="rect">
            <a:avLst/>
          </a:prstGeom>
        </p:spPr>
      </p:pic>
      <p:sp>
        <p:nvSpPr>
          <p:cNvPr id="6" name="Text 3"/>
          <p:cNvSpPr/>
          <p:nvPr/>
        </p:nvSpPr>
        <p:spPr>
          <a:xfrm>
            <a:off x="548640" y="6446520"/>
            <a:ext cx="11064240" cy="320040"/>
          </a:xfrm>
          <a:prstGeom prst="rect">
            <a:avLst/>
          </a:prstGeom>
          <a:noFill/>
          <a:ln/>
        </p:spPr>
        <p:txBody>
          <a:bodyPr wrap="square" rtlCol="0" anchor="ctr"/>
          <a:lstStyle/>
          <a:p>
            <a:pPr marL="0" indent="0" algn="ctr">
              <a:buNone/>
            </a:pPr>
            <a:r>
              <a:rPr lang="en-US" sz="1100" i="1" dirty="0">
                <a:solidFill>
                  <a:srgbClr val="6B6B6B"/>
                </a:solidFill>
                <a:latin typeface="Calibri" pitchFamily="34" charset="0"/>
                <a:ea typeface="Calibri" pitchFamily="34" charset="-122"/>
                <a:cs typeface="Calibri" pitchFamily="34" charset="-120"/>
              </a:rPr>
              <a:t>Motorul fgabbert e pure-Python — nu necesită build tools C++ pe Windows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get_dubins_path — funcția cheie</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Polilinie eșantionată între două configurații (x, y, θ)</a:t>
            </a:r>
            <a:endParaRPr lang="en-US" sz="1400" dirty="0"/>
          </a:p>
        </p:txBody>
      </p:sp>
      <p:sp>
        <p:nvSpPr>
          <p:cNvPr id="5" name="Shape 3"/>
          <p:cNvSpPr/>
          <p:nvPr/>
        </p:nvSpPr>
        <p:spPr>
          <a:xfrm>
            <a:off x="548640" y="1463040"/>
            <a:ext cx="5943600" cy="3657600"/>
          </a:xfrm>
          <a:prstGeom prst="rect">
            <a:avLst/>
          </a:prstGeom>
          <a:solidFill>
            <a:srgbClr val="2A2A2A"/>
          </a:solidFill>
          <a:ln/>
        </p:spPr>
      </p:sp>
      <p:sp>
        <p:nvSpPr>
          <p:cNvPr id="6" name="Text 4"/>
          <p:cNvSpPr/>
          <p:nvPr/>
        </p:nvSpPr>
        <p:spPr>
          <a:xfrm>
            <a:off x="731520" y="1600200"/>
            <a:ext cx="5577840" cy="3611880"/>
          </a:xfrm>
          <a:prstGeom prst="rect">
            <a:avLst/>
          </a:prstGeom>
          <a:noFill/>
          <a:ln/>
        </p:spPr>
        <p:txBody>
          <a:bodyPr wrap="square" lIns="0" tIns="0" rIns="0" bIns="0" rtlCol="0" anchor="ctr"/>
          <a:lstStyle/>
          <a:p>
            <a:pPr marL="0" indent="0">
              <a:buNone/>
            </a:pPr>
            <a:r>
              <a:rPr lang="en-US" sz="1000" dirty="0">
                <a:solidFill>
                  <a:srgbClr val="F96167"/>
                </a:solidFill>
                <a:latin typeface="Consolas" pitchFamily="34" charset="0"/>
                <a:ea typeface="Consolas" pitchFamily="34" charset="-122"/>
                <a:cs typeface="Consolas" pitchFamily="34" charset="-120"/>
              </a:rPr>
              <a:t>def </a:t>
            </a:r>
            <a:r>
              <a:rPr lang="en-US" sz="1000" dirty="0">
                <a:solidFill>
                  <a:srgbClr val="F9E795"/>
                </a:solidFill>
                <a:latin typeface="Consolas" pitchFamily="34" charset="0"/>
                <a:ea typeface="Consolas" pitchFamily="34" charset="-122"/>
                <a:cs typeface="Consolas" pitchFamily="34" charset="-120"/>
              </a:rPr>
              <a:t>get_dubins_path</a:t>
            </a:r>
            <a:r>
              <a:rPr lang="en-US" sz="1000" dirty="0">
                <a:solidFill>
                  <a:srgbClr val="CADCFC"/>
                </a:solidFill>
                <a:latin typeface="Consolas" pitchFamily="34" charset="0"/>
                <a:ea typeface="Consolas" pitchFamily="34" charset="-122"/>
                <a:cs typeface="Consolas" pitchFamily="34" charset="-120"/>
              </a:rPr>
              <a:t>(start, end, radius,                    step_size=0.05):</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if radius &lt;= 0:</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raise ValueError(...)</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w1 = _config_to_waypoint(start)</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w2 = _config_to_waypoint(end)</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param = calc_dubins_param_radius(w1, w2, radius)</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total_length = path_length(param)</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if total_length &lt; 1e-9:</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return [(start[0], start[1])]</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xs_ys, d = [], 0.0</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while d &lt;= total_length + 1e-9:</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q = dubins_path_world(param, d)</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xs_ys.append((float(q[0]), float(q[1])))</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d += step_size</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qf = dubins_path_world(param, total_length)</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last = (float(qf[0]), float(qf[1]))</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if not xs_ys or (...): xs_ys.append(last)</a:t>
            </a:r>
            <a:endParaRPr lang="en-US" sz="1000" dirty="0"/>
          </a:p>
          <a:p>
            <a:pPr marL="0" indent="0">
              <a:buNone/>
            </a:pPr>
            <a:r>
              <a:rPr lang="en-US" sz="1000" dirty="0">
                <a:solidFill>
                  <a:srgbClr val="F96167"/>
                </a:solidFill>
                <a:latin typeface="Consolas" pitchFamily="34" charset="0"/>
                <a:ea typeface="Consolas" pitchFamily="34" charset="-122"/>
                <a:cs typeface="Consolas" pitchFamily="34" charset="-120"/>
              </a:rPr>
              <a:t>    return </a:t>
            </a:r>
            <a:r>
              <a:rPr lang="en-US" sz="1000" dirty="0">
                <a:solidFill>
                  <a:srgbClr val="CADCFC"/>
                </a:solidFill>
                <a:latin typeface="Consolas" pitchFamily="34" charset="0"/>
                <a:ea typeface="Consolas" pitchFamily="34" charset="-122"/>
                <a:cs typeface="Consolas" pitchFamily="34" charset="-120"/>
              </a:rPr>
              <a:t>xs_ys</a:t>
            </a:r>
            <a:endParaRPr lang="en-US" sz="1000" dirty="0"/>
          </a:p>
        </p:txBody>
      </p:sp>
      <p:sp>
        <p:nvSpPr>
          <p:cNvPr id="7" name="Text 5"/>
          <p:cNvSpPr/>
          <p:nvPr/>
        </p:nvSpPr>
        <p:spPr>
          <a:xfrm>
            <a:off x="6766560" y="1463040"/>
            <a:ext cx="5120640" cy="365760"/>
          </a:xfrm>
          <a:prstGeom prst="rect">
            <a:avLst/>
          </a:prstGeom>
          <a:noFill/>
          <a:ln/>
        </p:spPr>
        <p:txBody>
          <a:bodyPr wrap="square" rtlCol="0" anchor="ctr"/>
          <a:lstStyle/>
          <a:p>
            <a:pPr marL="0" indent="0">
              <a:buNone/>
            </a:pPr>
            <a:r>
              <a:rPr lang="en-US" sz="1600" b="1" dirty="0">
                <a:solidFill>
                  <a:srgbClr val="B85042"/>
                </a:solidFill>
                <a:latin typeface="Georgia" pitchFamily="34" charset="0"/>
                <a:ea typeface="Georgia" pitchFamily="34" charset="-122"/>
                <a:cs typeface="Georgia" pitchFamily="34" charset="-120"/>
              </a:rPr>
              <a:t>Test P2 (R = 1.0, pas = 0.05):</a:t>
            </a:r>
            <a:endParaRPr lang="en-US" sz="1600" dirty="0"/>
          </a:p>
        </p:txBody>
      </p:sp>
      <p:pic>
        <p:nvPicPr>
          <p:cNvPr id="8" name="Image 0" descr="/home/claude/project/figures/p2_test_dubins.png"/>
          <p:cNvPicPr>
            <a:picLocks noChangeAspect="1"/>
          </p:cNvPicPr>
          <p:nvPr/>
        </p:nvPicPr>
        <p:blipFill>
          <a:blip r:embed="rId3"/>
          <a:stretch>
            <a:fillRect/>
          </a:stretch>
        </p:blipFill>
        <p:spPr>
          <a:xfrm>
            <a:off x="6583680" y="1874520"/>
            <a:ext cx="5486400" cy="3200400"/>
          </a:xfrm>
          <a:prstGeom prst="rect">
            <a:avLst/>
          </a:prstGeom>
        </p:spPr>
      </p:pic>
      <p:sp>
        <p:nvSpPr>
          <p:cNvPr id="9" name="Shape 6"/>
          <p:cNvSpPr/>
          <p:nvPr/>
        </p:nvSpPr>
        <p:spPr>
          <a:xfrm>
            <a:off x="548640" y="5349240"/>
            <a:ext cx="11064240" cy="1188720"/>
          </a:xfrm>
          <a:prstGeom prst="rect">
            <a:avLst/>
          </a:prstGeom>
          <a:solidFill>
            <a:srgbClr val="E7E8D1"/>
          </a:solidFill>
          <a:ln/>
        </p:spPr>
      </p:sp>
      <p:sp>
        <p:nvSpPr>
          <p:cNvPr id="10" name="Shape 7"/>
          <p:cNvSpPr/>
          <p:nvPr/>
        </p:nvSpPr>
        <p:spPr>
          <a:xfrm>
            <a:off x="548640" y="5349240"/>
            <a:ext cx="91440" cy="1188720"/>
          </a:xfrm>
          <a:prstGeom prst="rect">
            <a:avLst/>
          </a:prstGeom>
          <a:solidFill>
            <a:srgbClr val="B85042"/>
          </a:solidFill>
          <a:ln/>
        </p:spPr>
      </p:sp>
      <p:sp>
        <p:nvSpPr>
          <p:cNvPr id="11" name="Text 8"/>
          <p:cNvSpPr/>
          <p:nvPr/>
        </p:nvSpPr>
        <p:spPr>
          <a:xfrm>
            <a:off x="822960" y="5440680"/>
            <a:ext cx="10698480" cy="320040"/>
          </a:xfrm>
          <a:prstGeom prst="rect">
            <a:avLst/>
          </a:prstGeom>
          <a:noFill/>
          <a:ln/>
        </p:spPr>
        <p:txBody>
          <a:bodyPr wrap="square" rtlCol="0" anchor="ctr"/>
          <a:lstStyle/>
          <a:p>
            <a:pPr marL="0" indent="0">
              <a:buNone/>
            </a:pPr>
            <a:r>
              <a:rPr lang="en-US" sz="1300" b="1" dirty="0">
                <a:solidFill>
                  <a:srgbClr val="8B3A30"/>
                </a:solidFill>
                <a:latin typeface="Calibri" pitchFamily="34" charset="0"/>
                <a:ea typeface="Calibri" pitchFamily="34" charset="-122"/>
                <a:cs typeface="Calibri" pitchFamily="34" charset="-120"/>
              </a:rPr>
              <a:t>Observație</a:t>
            </a:r>
            <a:endParaRPr lang="en-US" sz="1300" dirty="0"/>
          </a:p>
        </p:txBody>
      </p:sp>
      <p:sp>
        <p:nvSpPr>
          <p:cNvPr id="12" name="Text 9"/>
          <p:cNvSpPr/>
          <p:nvPr/>
        </p:nvSpPr>
        <p:spPr>
          <a:xfrm>
            <a:off x="822960" y="5760720"/>
            <a:ext cx="10698480" cy="731520"/>
          </a:xfrm>
          <a:prstGeom prst="rect">
            <a:avLst/>
          </a:prstGeom>
          <a:noFill/>
          <a:ln/>
        </p:spPr>
        <p:txBody>
          <a:bodyPr wrap="square" rtlCol="0" anchor="ctr"/>
          <a:lstStyle/>
          <a:p>
            <a:pPr marL="0" indent="0">
              <a:buNone/>
            </a:pPr>
            <a:r>
              <a:rPr lang="en-US" sz="1200" dirty="0">
                <a:solidFill>
                  <a:srgbClr val="2A2A2A"/>
                </a:solidFill>
                <a:latin typeface="Calibri" pitchFamily="34" charset="0"/>
                <a:ea typeface="Calibri" pitchFamily="34" charset="-122"/>
                <a:cs typeface="Calibri" pitchFamily="34" charset="-120"/>
              </a:rPr>
              <a:t>La R=1.0 și step=0.05 → cele trei perechi produc 96, 148, respectiv 61 eșantioane. Numărul depinde de lungimea geometrică Dubins, nu de distanța euclidiană. Unghiuri „nealiniate" cu coarda cresc atât lungimea, cât și numărul de eșantioane.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tsp_nearest_neighbor — algoritmul</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Implementare greedy, O(n²)</a:t>
            </a:r>
            <a:endParaRPr lang="en-US" sz="1400" dirty="0"/>
          </a:p>
        </p:txBody>
      </p:sp>
      <p:sp>
        <p:nvSpPr>
          <p:cNvPr id="5" name="Shape 3"/>
          <p:cNvSpPr/>
          <p:nvPr/>
        </p:nvSpPr>
        <p:spPr>
          <a:xfrm>
            <a:off x="548640" y="1463040"/>
            <a:ext cx="5943600" cy="4937760"/>
          </a:xfrm>
          <a:prstGeom prst="rect">
            <a:avLst/>
          </a:prstGeom>
          <a:solidFill>
            <a:srgbClr val="2A2A2A"/>
          </a:solidFill>
          <a:ln/>
        </p:spPr>
      </p:sp>
      <p:sp>
        <p:nvSpPr>
          <p:cNvPr id="6" name="Text 4"/>
          <p:cNvSpPr/>
          <p:nvPr/>
        </p:nvSpPr>
        <p:spPr>
          <a:xfrm>
            <a:off x="731520" y="1600200"/>
            <a:ext cx="5577840" cy="4754880"/>
          </a:xfrm>
          <a:prstGeom prst="rect">
            <a:avLst/>
          </a:prstGeom>
          <a:noFill/>
          <a:ln/>
        </p:spPr>
        <p:txBody>
          <a:bodyPr wrap="square" lIns="0" tIns="0" rIns="0" bIns="0" rtlCol="0" anchor="ctr"/>
          <a:lstStyle/>
          <a:p>
            <a:pPr marL="0" indent="0">
              <a:buNone/>
            </a:pPr>
            <a:r>
              <a:rPr lang="en-US" sz="1000" dirty="0">
                <a:solidFill>
                  <a:srgbClr val="F96167"/>
                </a:solidFill>
                <a:latin typeface="Consolas" pitchFamily="34" charset="0"/>
                <a:ea typeface="Consolas" pitchFamily="34" charset="-122"/>
                <a:cs typeface="Consolas" pitchFamily="34" charset="-120"/>
              </a:rPr>
              <a:t>def </a:t>
            </a:r>
            <a:r>
              <a:rPr lang="en-US" sz="1000" dirty="0">
                <a:solidFill>
                  <a:srgbClr val="F9E795"/>
                </a:solidFill>
                <a:latin typeface="Consolas" pitchFamily="34" charset="0"/>
                <a:ea typeface="Consolas" pitchFamily="34" charset="-122"/>
                <a:cs typeface="Consolas" pitchFamily="34" charset="-120"/>
              </a:rPr>
              <a:t>tsp_nearest_neighbor</a:t>
            </a:r>
            <a:r>
              <a:rPr lang="en-US" sz="1000" dirty="0">
                <a:solidFill>
                  <a:srgbClr val="CADCFC"/>
                </a:solidFill>
                <a:latin typeface="Consolas" pitchFamily="34" charset="0"/>
                <a:ea typeface="Consolas" pitchFamily="34" charset="-122"/>
                <a:cs typeface="Consolas" pitchFamily="34" charset="-120"/>
              </a:rPr>
              <a:t>(points, start_index=0):</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if not points:</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return []</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n = len(points)</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if n == 1:</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return [points[0]]</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unvisited = set(range(n))</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current = start_index % n</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order_idx = [current]</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unvisited.remove(current)</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while unvisited:</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cx, cy = points[current]</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best_j, best_d2 = None, math.inf</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for j in unvisited:</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px, py = points[j]</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d2 = (px - cx)**2 + (py - cy)**2</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if d2 &lt; best_d2:</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best_d2 = d2</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best_j = j</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assert best_j is not None</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order_idx.append(best_j)</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unvisited.remove(best_j)</a:t>
            </a:r>
            <a:endParaRPr lang="en-US" sz="1000" dirty="0"/>
          </a:p>
          <a:p>
            <a:pPr marL="0" indent="0">
              <a:buNone/>
            </a:pPr>
            <a:r>
              <a:rPr lang="en-US" sz="1000" dirty="0">
                <a:solidFill>
                  <a:srgbClr val="CADCFC"/>
                </a:solidFill>
                <a:latin typeface="Consolas" pitchFamily="34" charset="0"/>
                <a:ea typeface="Consolas" pitchFamily="34" charset="-122"/>
                <a:cs typeface="Consolas" pitchFamily="34" charset="-120"/>
              </a:rPr>
              <a:t>        current = best_j</a:t>
            </a:r>
            <a:endParaRPr lang="en-US" sz="1000" dirty="0"/>
          </a:p>
          <a:p>
            <a:pPr marL="0" indent="0">
              <a:buNone/>
            </a:pPr>
            <a:r>
              <a:rPr lang="en-US" sz="1000" dirty="0">
                <a:solidFill>
                  <a:srgbClr val="F96167"/>
                </a:solidFill>
                <a:latin typeface="Consolas" pitchFamily="34" charset="0"/>
                <a:ea typeface="Consolas" pitchFamily="34" charset="-122"/>
                <a:cs typeface="Consolas" pitchFamily="34" charset="-120"/>
              </a:rPr>
              <a:t>    return </a:t>
            </a:r>
            <a:r>
              <a:rPr lang="en-US" sz="1000" dirty="0">
                <a:solidFill>
                  <a:srgbClr val="CADCFC"/>
                </a:solidFill>
                <a:latin typeface="Consolas" pitchFamily="34" charset="0"/>
                <a:ea typeface="Consolas" pitchFamily="34" charset="-122"/>
                <a:cs typeface="Consolas" pitchFamily="34" charset="-120"/>
              </a:rPr>
              <a:t>[points[i] for i in order_idx]</a:t>
            </a:r>
            <a:endParaRPr lang="en-US" sz="1000" dirty="0"/>
          </a:p>
        </p:txBody>
      </p:sp>
      <p:sp>
        <p:nvSpPr>
          <p:cNvPr id="7" name="Text 5"/>
          <p:cNvSpPr/>
          <p:nvPr/>
        </p:nvSpPr>
        <p:spPr>
          <a:xfrm>
            <a:off x="6675120" y="1463040"/>
            <a:ext cx="5120640" cy="365760"/>
          </a:xfrm>
          <a:prstGeom prst="rect">
            <a:avLst/>
          </a:prstGeom>
          <a:noFill/>
          <a:ln/>
        </p:spPr>
        <p:txBody>
          <a:bodyPr wrap="square" rtlCol="0" anchor="ctr"/>
          <a:lstStyle/>
          <a:p>
            <a:pPr marL="0" indent="0">
              <a:buNone/>
            </a:pPr>
            <a:r>
              <a:rPr lang="en-US" sz="1800" b="1" dirty="0">
                <a:solidFill>
                  <a:srgbClr val="B85042"/>
                </a:solidFill>
                <a:latin typeface="Georgia" pitchFamily="34" charset="0"/>
                <a:ea typeface="Georgia" pitchFamily="34" charset="-122"/>
                <a:cs typeface="Georgia" pitchFamily="34" charset="-120"/>
              </a:rPr>
              <a:t>Cum funcționează</a:t>
            </a:r>
            <a:endParaRPr lang="en-US" sz="1800" dirty="0"/>
          </a:p>
        </p:txBody>
      </p:sp>
      <p:sp>
        <p:nvSpPr>
          <p:cNvPr id="8" name="Shape 6"/>
          <p:cNvSpPr/>
          <p:nvPr/>
        </p:nvSpPr>
        <p:spPr>
          <a:xfrm>
            <a:off x="6675120" y="1965960"/>
            <a:ext cx="502920" cy="502920"/>
          </a:xfrm>
          <a:prstGeom prst="ellipse">
            <a:avLst/>
          </a:prstGeom>
          <a:solidFill>
            <a:srgbClr val="B85042"/>
          </a:solidFill>
          <a:ln/>
        </p:spPr>
      </p:sp>
      <p:sp>
        <p:nvSpPr>
          <p:cNvPr id="9" name="Text 7"/>
          <p:cNvSpPr/>
          <p:nvPr/>
        </p:nvSpPr>
        <p:spPr>
          <a:xfrm>
            <a:off x="667512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7315200" y="1965960"/>
            <a:ext cx="45720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Punct de start fix</a:t>
            </a:r>
            <a:endParaRPr lang="en-US" sz="1400" dirty="0"/>
          </a:p>
        </p:txBody>
      </p:sp>
      <p:sp>
        <p:nvSpPr>
          <p:cNvPr id="11" name="Text 9"/>
          <p:cNvSpPr/>
          <p:nvPr/>
        </p:nvSpPr>
        <p:spPr>
          <a:xfrm>
            <a:off x="7315200" y="2331720"/>
            <a:ext cx="4572000" cy="45720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implicit start_index=0 (primul punct)</a:t>
            </a:r>
            <a:endParaRPr lang="en-US" sz="1200" dirty="0"/>
          </a:p>
        </p:txBody>
      </p:sp>
      <p:sp>
        <p:nvSpPr>
          <p:cNvPr id="12" name="Shape 10"/>
          <p:cNvSpPr/>
          <p:nvPr/>
        </p:nvSpPr>
        <p:spPr>
          <a:xfrm>
            <a:off x="6675120" y="3017520"/>
            <a:ext cx="502920" cy="502920"/>
          </a:xfrm>
          <a:prstGeom prst="ellipse">
            <a:avLst/>
          </a:prstGeom>
          <a:solidFill>
            <a:srgbClr val="B85042"/>
          </a:solidFill>
          <a:ln/>
        </p:spPr>
      </p:sp>
      <p:sp>
        <p:nvSpPr>
          <p:cNvPr id="13" name="Text 11"/>
          <p:cNvSpPr/>
          <p:nvPr/>
        </p:nvSpPr>
        <p:spPr>
          <a:xfrm>
            <a:off x="6675120" y="3017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7315200" y="3017520"/>
            <a:ext cx="45720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Distanță euclidiană la pătrat</a:t>
            </a:r>
            <a:endParaRPr lang="en-US" sz="1400" dirty="0"/>
          </a:p>
        </p:txBody>
      </p:sp>
      <p:sp>
        <p:nvSpPr>
          <p:cNvPr id="15" name="Text 13"/>
          <p:cNvSpPr/>
          <p:nvPr/>
        </p:nvSpPr>
        <p:spPr>
          <a:xfrm>
            <a:off x="7315200" y="3383280"/>
            <a:ext cx="4572000" cy="45720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evităm sqrt — ordinea relativă rămâne aceeași</a:t>
            </a:r>
            <a:endParaRPr lang="en-US" sz="1200" dirty="0"/>
          </a:p>
        </p:txBody>
      </p:sp>
      <p:sp>
        <p:nvSpPr>
          <p:cNvPr id="16" name="Shape 14"/>
          <p:cNvSpPr/>
          <p:nvPr/>
        </p:nvSpPr>
        <p:spPr>
          <a:xfrm>
            <a:off x="6675120" y="4069080"/>
            <a:ext cx="502920" cy="502920"/>
          </a:xfrm>
          <a:prstGeom prst="ellipse">
            <a:avLst/>
          </a:prstGeom>
          <a:solidFill>
            <a:srgbClr val="B85042"/>
          </a:solidFill>
          <a:ln/>
        </p:spPr>
      </p:sp>
      <p:sp>
        <p:nvSpPr>
          <p:cNvPr id="17" name="Text 15"/>
          <p:cNvSpPr/>
          <p:nvPr/>
        </p:nvSpPr>
        <p:spPr>
          <a:xfrm>
            <a:off x="6675120" y="4069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7315200" y="4069080"/>
            <a:ext cx="45720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Marcăm vizitate cu set()</a:t>
            </a:r>
            <a:endParaRPr lang="en-US" sz="1400" dirty="0"/>
          </a:p>
        </p:txBody>
      </p:sp>
      <p:sp>
        <p:nvSpPr>
          <p:cNvPr id="19" name="Text 17"/>
          <p:cNvSpPr/>
          <p:nvPr/>
        </p:nvSpPr>
        <p:spPr>
          <a:xfrm>
            <a:off x="7315200" y="4434840"/>
            <a:ext cx="4572000" cy="45720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lookup O(1), eliminăm O(1)</a:t>
            </a:r>
            <a:endParaRPr lang="en-US" sz="1200" dirty="0"/>
          </a:p>
        </p:txBody>
      </p:sp>
      <p:sp>
        <p:nvSpPr>
          <p:cNvPr id="20" name="Shape 18"/>
          <p:cNvSpPr/>
          <p:nvPr/>
        </p:nvSpPr>
        <p:spPr>
          <a:xfrm>
            <a:off x="6675120" y="5120640"/>
            <a:ext cx="502920" cy="502920"/>
          </a:xfrm>
          <a:prstGeom prst="ellipse">
            <a:avLst/>
          </a:prstGeom>
          <a:solidFill>
            <a:srgbClr val="B85042"/>
          </a:solidFill>
          <a:ln/>
        </p:spPr>
      </p:sp>
      <p:sp>
        <p:nvSpPr>
          <p:cNvPr id="21" name="Text 19"/>
          <p:cNvSpPr/>
          <p:nvPr/>
        </p:nvSpPr>
        <p:spPr>
          <a:xfrm>
            <a:off x="6675120" y="51206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315200" y="5120640"/>
            <a:ext cx="45720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Reordonăm lista originală</a:t>
            </a:r>
            <a:endParaRPr lang="en-US" sz="1400" dirty="0"/>
          </a:p>
        </p:txBody>
      </p:sp>
      <p:sp>
        <p:nvSpPr>
          <p:cNvPr id="23" name="Text 21"/>
          <p:cNvSpPr/>
          <p:nvPr/>
        </p:nvSpPr>
        <p:spPr>
          <a:xfrm>
            <a:off x="7315200" y="5486400"/>
            <a:ext cx="4572000" cy="45720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returnăm punctele în ordinea greedy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Rezultate vizuale (1/2)</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Scenarii: puține puncte (5) și multe puncte (12), R = 1.0</a:t>
            </a:r>
            <a:endParaRPr lang="en-US" sz="1400" dirty="0"/>
          </a:p>
        </p:txBody>
      </p:sp>
      <p:sp>
        <p:nvSpPr>
          <p:cNvPr id="5" name="Text 3"/>
          <p:cNvSpPr/>
          <p:nvPr/>
        </p:nvSpPr>
        <p:spPr>
          <a:xfrm>
            <a:off x="548640" y="1417320"/>
            <a:ext cx="5486400" cy="365760"/>
          </a:xfrm>
          <a:prstGeom prst="rect">
            <a:avLst/>
          </a:prstGeom>
          <a:noFill/>
          <a:ln/>
        </p:spPr>
        <p:txBody>
          <a:bodyPr wrap="square" rtlCol="0" anchor="ctr"/>
          <a:lstStyle/>
          <a:p>
            <a:pPr marL="0" indent="0" algn="ctr">
              <a:buNone/>
            </a:pPr>
            <a:r>
              <a:rPr lang="en-US" sz="1600" b="1" dirty="0">
                <a:solidFill>
                  <a:srgbClr val="B85042"/>
                </a:solidFill>
                <a:latin typeface="Georgia" pitchFamily="34" charset="0"/>
                <a:ea typeface="Georgia" pitchFamily="34" charset="-122"/>
                <a:cs typeface="Georgia" pitchFamily="34" charset="-120"/>
              </a:rPr>
              <a:t>Puține puncte (5)</a:t>
            </a:r>
            <a:endParaRPr lang="en-US" sz="1600" dirty="0"/>
          </a:p>
        </p:txBody>
      </p:sp>
      <p:pic>
        <p:nvPicPr>
          <p:cNvPr id="6" name="Image 0" descr="/home/claude/project/figures/scenariu_putine_R1p0.png"/>
          <p:cNvPicPr>
            <a:picLocks noChangeAspect="1"/>
          </p:cNvPicPr>
          <p:nvPr/>
        </p:nvPicPr>
        <p:blipFill>
          <a:blip r:embed="rId3"/>
          <a:stretch>
            <a:fillRect/>
          </a:stretch>
        </p:blipFill>
        <p:spPr>
          <a:xfrm>
            <a:off x="548640" y="1783080"/>
            <a:ext cx="5486400" cy="4389120"/>
          </a:xfrm>
          <a:prstGeom prst="rect">
            <a:avLst/>
          </a:prstGeom>
        </p:spPr>
      </p:pic>
      <p:sp>
        <p:nvSpPr>
          <p:cNvPr id="7" name="Text 4"/>
          <p:cNvSpPr/>
          <p:nvPr/>
        </p:nvSpPr>
        <p:spPr>
          <a:xfrm>
            <a:off x="548640" y="6263640"/>
            <a:ext cx="5486400" cy="320040"/>
          </a:xfrm>
          <a:prstGeom prst="rect">
            <a:avLst/>
          </a:prstGeom>
          <a:noFill/>
          <a:ln/>
        </p:spPr>
        <p:txBody>
          <a:bodyPr wrap="square" rtlCol="0" anchor="ctr"/>
          <a:lstStyle/>
          <a:p>
            <a:pPr marL="0" indent="0" algn="ctr">
              <a:buNone/>
            </a:pPr>
            <a:r>
              <a:rPr lang="en-US" sz="1300" i="1" dirty="0">
                <a:solidFill>
                  <a:srgbClr val="2A2A2A"/>
                </a:solidFill>
                <a:latin typeface="Calibri" pitchFamily="34" charset="0"/>
                <a:ea typeface="Calibri" pitchFamily="34" charset="-122"/>
                <a:cs typeface="Calibri" pitchFamily="34" charset="-120"/>
              </a:rPr>
              <a:t>Lungime traiectorie: 15.88</a:t>
            </a:r>
            <a:endParaRPr lang="en-US" sz="1300" dirty="0"/>
          </a:p>
        </p:txBody>
      </p:sp>
      <p:sp>
        <p:nvSpPr>
          <p:cNvPr id="8" name="Text 5"/>
          <p:cNvSpPr/>
          <p:nvPr/>
        </p:nvSpPr>
        <p:spPr>
          <a:xfrm>
            <a:off x="6126480" y="1417320"/>
            <a:ext cx="5486400" cy="365760"/>
          </a:xfrm>
          <a:prstGeom prst="rect">
            <a:avLst/>
          </a:prstGeom>
          <a:noFill/>
          <a:ln/>
        </p:spPr>
        <p:txBody>
          <a:bodyPr wrap="square" rtlCol="0" anchor="ctr"/>
          <a:lstStyle/>
          <a:p>
            <a:pPr marL="0" indent="0" algn="ctr">
              <a:buNone/>
            </a:pPr>
            <a:r>
              <a:rPr lang="en-US" sz="1600" b="1" dirty="0">
                <a:solidFill>
                  <a:srgbClr val="B85042"/>
                </a:solidFill>
                <a:latin typeface="Georgia" pitchFamily="34" charset="0"/>
                <a:ea typeface="Georgia" pitchFamily="34" charset="-122"/>
                <a:cs typeface="Georgia" pitchFamily="34" charset="-120"/>
              </a:rPr>
              <a:t>Multe puncte (12, pseudo-aleator)</a:t>
            </a:r>
            <a:endParaRPr lang="en-US" sz="1600" dirty="0"/>
          </a:p>
        </p:txBody>
      </p:sp>
      <p:pic>
        <p:nvPicPr>
          <p:cNvPr id="9" name="Image 1" descr="/home/claude/project/figures/scenariu_multe_R1p0.png"/>
          <p:cNvPicPr>
            <a:picLocks noChangeAspect="1"/>
          </p:cNvPicPr>
          <p:nvPr/>
        </p:nvPicPr>
        <p:blipFill>
          <a:blip r:embed="rId4"/>
          <a:stretch>
            <a:fillRect/>
          </a:stretch>
        </p:blipFill>
        <p:spPr>
          <a:xfrm>
            <a:off x="6126480" y="1783080"/>
            <a:ext cx="5486400" cy="4389120"/>
          </a:xfrm>
          <a:prstGeom prst="rect">
            <a:avLst/>
          </a:prstGeom>
        </p:spPr>
      </p:pic>
      <p:sp>
        <p:nvSpPr>
          <p:cNvPr id="10" name="Text 6"/>
          <p:cNvSpPr/>
          <p:nvPr/>
        </p:nvSpPr>
        <p:spPr>
          <a:xfrm>
            <a:off x="6126480" y="6263640"/>
            <a:ext cx="5486400" cy="320040"/>
          </a:xfrm>
          <a:prstGeom prst="rect">
            <a:avLst/>
          </a:prstGeom>
          <a:noFill/>
          <a:ln/>
        </p:spPr>
        <p:txBody>
          <a:bodyPr wrap="square" rtlCol="0" anchor="ctr"/>
          <a:lstStyle/>
          <a:p>
            <a:pPr marL="0" indent="0" algn="ctr">
              <a:buNone/>
            </a:pPr>
            <a:r>
              <a:rPr lang="en-US" sz="1300" i="1" dirty="0">
                <a:solidFill>
                  <a:srgbClr val="2A2A2A"/>
                </a:solidFill>
                <a:latin typeface="Calibri" pitchFamily="34" charset="0"/>
                <a:ea typeface="Calibri" pitchFamily="34" charset="-122"/>
                <a:cs typeface="Calibri" pitchFamily="34" charset="-120"/>
              </a:rPr>
              <a:t>Lungime traiectorie: 54.86</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Rezultate vizuale (2/2)</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Scenariu circular: 10 puncte echidistante pe cerc, R = 1.0</a:t>
            </a:r>
            <a:endParaRPr lang="en-US" sz="1400" dirty="0"/>
          </a:p>
        </p:txBody>
      </p:sp>
      <p:pic>
        <p:nvPicPr>
          <p:cNvPr id="5" name="Image 0" descr="/home/claude/project/figures/scenariu_circular_R1p0.png"/>
          <p:cNvPicPr>
            <a:picLocks noChangeAspect="1"/>
          </p:cNvPicPr>
          <p:nvPr/>
        </p:nvPicPr>
        <p:blipFill>
          <a:blip r:embed="rId3"/>
          <a:stretch>
            <a:fillRect/>
          </a:stretch>
        </p:blipFill>
        <p:spPr>
          <a:xfrm>
            <a:off x="914400" y="1417320"/>
            <a:ext cx="5943600" cy="5120640"/>
          </a:xfrm>
          <a:prstGeom prst="rect">
            <a:avLst/>
          </a:prstGeom>
        </p:spPr>
      </p:pic>
      <p:sp>
        <p:nvSpPr>
          <p:cNvPr id="6" name="Shape 3"/>
          <p:cNvSpPr/>
          <p:nvPr/>
        </p:nvSpPr>
        <p:spPr>
          <a:xfrm>
            <a:off x="7315200" y="1508760"/>
            <a:ext cx="4297680" cy="493776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7" name="Shape 4"/>
          <p:cNvSpPr/>
          <p:nvPr/>
        </p:nvSpPr>
        <p:spPr>
          <a:xfrm>
            <a:off x="7315200" y="1508760"/>
            <a:ext cx="91440" cy="4937760"/>
          </a:xfrm>
          <a:prstGeom prst="rect">
            <a:avLst/>
          </a:prstGeom>
          <a:solidFill>
            <a:srgbClr val="B85042"/>
          </a:solidFill>
          <a:ln/>
        </p:spPr>
      </p:sp>
      <p:sp>
        <p:nvSpPr>
          <p:cNvPr id="8" name="Text 5"/>
          <p:cNvSpPr/>
          <p:nvPr/>
        </p:nvSpPr>
        <p:spPr>
          <a:xfrm>
            <a:off x="7543800" y="1691640"/>
            <a:ext cx="4023360" cy="365760"/>
          </a:xfrm>
          <a:prstGeom prst="rect">
            <a:avLst/>
          </a:prstGeom>
          <a:noFill/>
          <a:ln/>
        </p:spPr>
        <p:txBody>
          <a:bodyPr wrap="square"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De ce e interesant?</a:t>
            </a:r>
            <a:endParaRPr lang="en-US" sz="1600" dirty="0"/>
          </a:p>
        </p:txBody>
      </p:sp>
      <p:sp>
        <p:nvSpPr>
          <p:cNvPr id="9" name="Text 6"/>
          <p:cNvSpPr/>
          <p:nvPr/>
        </p:nvSpPr>
        <p:spPr>
          <a:xfrm>
            <a:off x="7543800" y="2103120"/>
            <a:ext cx="4023360" cy="4206240"/>
          </a:xfrm>
          <a:prstGeom prst="rect">
            <a:avLst/>
          </a:prstGeom>
          <a:noFill/>
          <a:ln/>
        </p:spPr>
        <p:txBody>
          <a:bodyPr wrap="square" rtlCol="0" anchor="t"/>
          <a:lstStyle/>
          <a:p>
            <a:pPr marL="342900" indent="-342900">
              <a:spcAft>
                <a:spcPts val="400"/>
              </a:spcAft>
              <a:buSzPct val="100000"/>
              <a:buChar char="•"/>
            </a:pPr>
            <a:r>
              <a:rPr lang="en-US" sz="1200" dirty="0">
                <a:solidFill>
                  <a:srgbClr val="2A2A2A"/>
                </a:solidFill>
                <a:latin typeface="Calibri" pitchFamily="34" charset="0"/>
                <a:ea typeface="Calibri" pitchFamily="34" charset="-122"/>
                <a:cs typeface="Calibri" pitchFamily="34" charset="-120"/>
              </a:rPr>
              <a:t>Punctele sunt egal distanțate pe un cerc</a:t>
            </a:r>
            <a:endParaRPr lang="en-US" sz="1200" dirty="0"/>
          </a:p>
          <a:p>
            <a:pPr marL="342900" indent="-342900">
              <a:spcAft>
                <a:spcPts val="400"/>
              </a:spcAft>
              <a:buSzPct val="100000"/>
              <a:buChar char="•"/>
            </a:pPr>
            <a:r>
              <a:rPr lang="en-US" sz="1200" dirty="0">
                <a:solidFill>
                  <a:srgbClr val="2A2A2A"/>
                </a:solidFill>
                <a:latin typeface="Calibri" pitchFamily="34" charset="0"/>
                <a:ea typeface="Calibri" pitchFamily="34" charset="-122"/>
                <a:cs typeface="Calibri" pitchFamily="34" charset="-120"/>
              </a:rPr>
              <a:t>Ordinea „naturală" ar fi parcurgerea circulară (un sens, fără tăieri)</a:t>
            </a:r>
            <a:endParaRPr lang="en-US" sz="1200" dirty="0"/>
          </a:p>
          <a:p>
            <a:pPr marL="342900" indent="-342900">
              <a:spcAft>
                <a:spcPts val="400"/>
              </a:spcAft>
              <a:buSzPct val="100000"/>
              <a:buChar char="•"/>
            </a:pPr>
            <a:r>
              <a:rPr lang="en-US" sz="1200" dirty="0">
                <a:solidFill>
                  <a:srgbClr val="2A2A2A"/>
                </a:solidFill>
                <a:latin typeface="Calibri" pitchFamily="34" charset="0"/>
                <a:ea typeface="Calibri" pitchFamily="34" charset="-122"/>
                <a:cs typeface="Calibri" pitchFamily="34" charset="-120"/>
              </a:rPr>
              <a:t>NN simplu poate „sări" pe cordă în loc să urmeze sensul circular</a:t>
            </a:r>
            <a:endParaRPr lang="en-US" sz="1200" dirty="0"/>
          </a:p>
          <a:p>
            <a:pPr marL="342900" indent="-342900">
              <a:spcAft>
                <a:spcPts val="400"/>
              </a:spcAft>
              <a:buSzPct val="100000"/>
              <a:buChar char="•"/>
            </a:pPr>
            <a:r>
              <a:rPr lang="en-US" sz="1200" dirty="0">
                <a:solidFill>
                  <a:srgbClr val="2A2A2A"/>
                </a:solidFill>
                <a:latin typeface="Calibri" pitchFamily="34" charset="0"/>
                <a:ea typeface="Calibri" pitchFamily="34" charset="-122"/>
                <a:cs typeface="Calibri" pitchFamily="34" charset="-120"/>
              </a:rPr>
              <a:t>Greedy NU optimizează structura 1D a configurației circulare</a:t>
            </a:r>
            <a:endParaRPr lang="en-US" sz="1200" dirty="0"/>
          </a:p>
          <a:p>
            <a:pPr marL="0" indent="0">
              <a:spcAft>
                <a:spcPts val="400"/>
              </a:spcAft>
              <a:buNone/>
            </a:pPr>
            <a:r>
              <a:rPr lang="en-US" sz="1200" b="1" dirty="0">
                <a:solidFill>
                  <a:srgbClr val="2A2A2A"/>
                </a:solidFill>
                <a:latin typeface="Calibri" pitchFamily="34" charset="0"/>
                <a:ea typeface="Calibri" pitchFamily="34" charset="-122"/>
                <a:cs typeface="Calibri" pitchFamily="34" charset="-120"/>
              </a:rPr>
              <a:t>Lungime: 61.15  </a:t>
            </a:r>
            <a:r>
              <a:rPr lang="en-US" sz="1200" i="1" dirty="0">
                <a:solidFill>
                  <a:srgbClr val="B85042"/>
                </a:solidFill>
                <a:latin typeface="Calibri" pitchFamily="34" charset="0"/>
                <a:ea typeface="Calibri" pitchFamily="34" charset="-122"/>
                <a:cs typeface="Calibri" pitchFamily="34" charset="-120"/>
              </a:rPr>
              <a:t>(vs. 50.30 cu o ordine aleatoare!)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11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Analiza razelor diferite</a:t>
            </a:r>
            <a:endParaRPr lang="en-US" sz="3000" dirty="0"/>
          </a:p>
        </p:txBody>
      </p:sp>
      <p:sp>
        <p:nvSpPr>
          <p:cNvPr id="4" name="Text 2"/>
          <p:cNvSpPr/>
          <p:nvPr/>
        </p:nvSpPr>
        <p:spPr>
          <a:xfrm>
            <a:off x="548640" y="914400"/>
            <a:ext cx="10515600" cy="365760"/>
          </a:xfrm>
          <a:prstGeom prst="rect">
            <a:avLst/>
          </a:prstGeom>
          <a:noFill/>
          <a:ln/>
        </p:spPr>
        <p:txBody>
          <a:bodyPr wrap="square" lIns="0" tIns="0" rIns="0" bIns="0" rtlCol="0" anchor="ctr"/>
          <a:lstStyle/>
          <a:p>
            <a:pPr marL="0" indent="0">
              <a:buNone/>
            </a:pPr>
            <a:r>
              <a:rPr lang="en-US" sz="1400" i="1" dirty="0">
                <a:solidFill>
                  <a:srgbClr val="B85042"/>
                </a:solidFill>
                <a:latin typeface="Calibri" pitchFamily="34" charset="0"/>
                <a:ea typeface="Calibri" pitchFamily="34" charset="-122"/>
                <a:cs typeface="Calibri" pitchFamily="34" charset="-120"/>
              </a:rPr>
              <a:t>Cum scalează lungimea traiectoriei cu R_min?</a:t>
            </a:r>
            <a:endParaRPr lang="en-US" sz="1400" dirty="0"/>
          </a:p>
        </p:txBody>
      </p:sp>
      <p:graphicFrame>
        <p:nvGraphicFramePr>
          <p:cNvPr id="5" name="Chart 0"/>
          <p:cNvGraphicFramePr/>
          <p:nvPr/>
        </p:nvGraphicFramePr>
        <p:xfrm>
          <a:off x="457200" y="1417320"/>
          <a:ext cx="7315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046720" y="1417320"/>
            <a:ext cx="3749040" cy="4114800"/>
          </a:xfrm>
          <a:prstGeom prst="rect">
            <a:avLst/>
          </a:prstGeom>
          <a:solidFill>
            <a:srgbClr val="E7E8D1"/>
          </a:solidFill>
          <a:ln/>
        </p:spPr>
      </p:sp>
      <p:sp>
        <p:nvSpPr>
          <p:cNvPr id="7" name="Shape 4"/>
          <p:cNvSpPr/>
          <p:nvPr/>
        </p:nvSpPr>
        <p:spPr>
          <a:xfrm>
            <a:off x="8046720" y="1417320"/>
            <a:ext cx="91440" cy="4114800"/>
          </a:xfrm>
          <a:prstGeom prst="rect">
            <a:avLst/>
          </a:prstGeom>
          <a:solidFill>
            <a:srgbClr val="B85042"/>
          </a:solidFill>
          <a:ln/>
        </p:spPr>
      </p:sp>
      <p:sp>
        <p:nvSpPr>
          <p:cNvPr id="8" name="Text 5"/>
          <p:cNvSpPr/>
          <p:nvPr/>
        </p:nvSpPr>
        <p:spPr>
          <a:xfrm>
            <a:off x="8229600" y="1554480"/>
            <a:ext cx="3474720" cy="365760"/>
          </a:xfrm>
          <a:prstGeom prst="rect">
            <a:avLst/>
          </a:prstGeom>
          <a:noFill/>
          <a:ln/>
        </p:spPr>
        <p:txBody>
          <a:bodyPr wrap="square" rtlCol="0" anchor="ctr"/>
          <a:lstStyle/>
          <a:p>
            <a:pPr marL="0" indent="0">
              <a:buNone/>
            </a:pPr>
            <a:r>
              <a:rPr lang="en-US" sz="1500" b="1" dirty="0">
                <a:solidFill>
                  <a:srgbClr val="8B3A30"/>
                </a:solidFill>
                <a:latin typeface="Georgia" pitchFamily="34" charset="0"/>
                <a:ea typeface="Georgia" pitchFamily="34" charset="-122"/>
                <a:cs typeface="Georgia" pitchFamily="34" charset="-120"/>
              </a:rPr>
              <a:t>Observații cheie</a:t>
            </a:r>
            <a:endParaRPr lang="en-US" sz="1500" dirty="0"/>
          </a:p>
        </p:txBody>
      </p:sp>
      <p:sp>
        <p:nvSpPr>
          <p:cNvPr id="9" name="Text 6"/>
          <p:cNvSpPr/>
          <p:nvPr/>
        </p:nvSpPr>
        <p:spPr>
          <a:xfrm>
            <a:off x="8229600" y="1965960"/>
            <a:ext cx="3474720" cy="347472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Lungimea crește monoton cu R</a:t>
            </a:r>
            <a:endParaRPr lang="en-US" sz="1300" dirty="0"/>
          </a:p>
          <a:p>
            <a:pPr marL="0" indent="0">
              <a:buNone/>
            </a:pPr>
            <a:r>
              <a:rPr lang="en-US" sz="1100" i="1" dirty="0">
                <a:solidFill>
                  <a:srgbClr val="6B6B6B"/>
                </a:solidFill>
                <a:latin typeface="Calibri" pitchFamily="34" charset="0"/>
                <a:ea typeface="Calibri" pitchFamily="34" charset="-122"/>
                <a:cs typeface="Calibri" pitchFamily="34" charset="-120"/>
              </a:rPr>
              <a:t>aceeași reorientare pe cerc mai mare = drum mai lung</a:t>
            </a:r>
            <a:endParaRPr lang="en-US" sz="1300" dirty="0"/>
          </a:p>
          <a:p>
            <a:pPr marL="0" indent="0">
              <a:buNone/>
            </a:pPr>
            <a:endParaRPr lang="en-US" sz="1300" dirty="0"/>
          </a:p>
          <a:p>
            <a:pPr marL="0" indent="0">
              <a:buNone/>
            </a:pPr>
            <a:r>
              <a:rPr lang="en-US" sz="1300" b="1" dirty="0">
                <a:solidFill>
                  <a:srgbClr val="2A2A2A"/>
                </a:solidFill>
                <a:latin typeface="Calibri" pitchFamily="34" charset="0"/>
                <a:ea typeface="Calibri" pitchFamily="34" charset="-122"/>
                <a:cs typeface="Calibri" pitchFamily="34" charset="-120"/>
              </a:rPr>
              <a:t>R mic → zig-zag</a:t>
            </a:r>
            <a:endParaRPr lang="en-US" sz="1300" dirty="0"/>
          </a:p>
          <a:p>
            <a:pPr marL="0" indent="0">
              <a:buNone/>
            </a:pPr>
            <a:r>
              <a:rPr lang="en-US" sz="1100" i="1" dirty="0">
                <a:solidFill>
                  <a:srgbClr val="6B6B6B"/>
                </a:solidFill>
                <a:latin typeface="Calibri" pitchFamily="34" charset="0"/>
                <a:ea typeface="Calibri" pitchFamily="34" charset="-122"/>
                <a:cs typeface="Calibri" pitchFamily="34" charset="-120"/>
              </a:rPr>
              <a:t>viraje strânse, traseu „zgomotos"</a:t>
            </a:r>
            <a:endParaRPr lang="en-US" sz="1300" dirty="0"/>
          </a:p>
          <a:p>
            <a:pPr marL="0" indent="0">
              <a:buNone/>
            </a:pPr>
            <a:endParaRPr lang="en-US" sz="1300" dirty="0"/>
          </a:p>
          <a:p>
            <a:pPr marL="0" indent="0">
              <a:buNone/>
            </a:pPr>
            <a:r>
              <a:rPr lang="en-US" sz="1300" b="1" dirty="0">
                <a:solidFill>
                  <a:srgbClr val="2A2A2A"/>
                </a:solidFill>
                <a:latin typeface="Calibri" pitchFamily="34" charset="0"/>
                <a:ea typeface="Calibri" pitchFamily="34" charset="-122"/>
                <a:cs typeface="Calibri" pitchFamily="34" charset="-120"/>
              </a:rPr>
              <a:t>R mare → arce largi</a:t>
            </a:r>
            <a:endParaRPr lang="en-US" sz="1300" dirty="0"/>
          </a:p>
          <a:p>
            <a:pPr marL="0" indent="0">
              <a:buNone/>
            </a:pPr>
            <a:r>
              <a:rPr lang="en-US" sz="1100" i="1" dirty="0">
                <a:solidFill>
                  <a:srgbClr val="6B6B6B"/>
                </a:solidFill>
                <a:latin typeface="Calibri" pitchFamily="34" charset="0"/>
                <a:ea typeface="Calibri" pitchFamily="34" charset="-122"/>
                <a:cs typeface="Calibri" pitchFamily="34" charset="-120"/>
              </a:rPr>
              <a:t>traseu lin, ocolește mai mult spațiul</a:t>
            </a:r>
            <a:endParaRPr lang="en-US" sz="1300" dirty="0"/>
          </a:p>
        </p:txBody>
      </p:sp>
      <p:sp>
        <p:nvSpPr>
          <p:cNvPr id="10" name="Shape 7"/>
          <p:cNvSpPr/>
          <p:nvPr/>
        </p:nvSpPr>
        <p:spPr>
          <a:xfrm>
            <a:off x="457200" y="5715000"/>
            <a:ext cx="11338560" cy="960120"/>
          </a:xfrm>
          <a:prstGeom prst="rect">
            <a:avLst/>
          </a:prstGeom>
          <a:solidFill>
            <a:srgbClr val="FFFFFF"/>
          </a:solidFill>
          <a:ln w="12700">
            <a:solidFill>
              <a:srgbClr val="E0E0DC"/>
            </a:solidFill>
            <a:prstDash val="solid"/>
          </a:ln>
        </p:spPr>
      </p:sp>
      <p:sp>
        <p:nvSpPr>
          <p:cNvPr id="11" name="Text 8"/>
          <p:cNvSpPr/>
          <p:nvPr/>
        </p:nvSpPr>
        <p:spPr>
          <a:xfrm>
            <a:off x="640080" y="5806440"/>
            <a:ext cx="4114800" cy="7772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NN vs ordine aleatoare (R=1, seed=42):</a:t>
            </a:r>
            <a:endParaRPr lang="en-US" sz="1200" dirty="0"/>
          </a:p>
        </p:txBody>
      </p:sp>
      <p:sp>
        <p:nvSpPr>
          <p:cNvPr id="12" name="Text 9"/>
          <p:cNvSpPr/>
          <p:nvPr/>
        </p:nvSpPr>
        <p:spPr>
          <a:xfrm>
            <a:off x="4572000" y="5806440"/>
            <a:ext cx="7040880" cy="777240"/>
          </a:xfrm>
          <a:prstGeom prst="rect">
            <a:avLst/>
          </a:prstGeom>
          <a:noFill/>
          <a:ln/>
        </p:spPr>
        <p:txBody>
          <a:bodyPr wrap="square" rtlCol="0" anchor="ctr"/>
          <a:lstStyle/>
          <a:p>
            <a:pPr marL="0" indent="0">
              <a:buNone/>
            </a:pPr>
            <a:r>
              <a:rPr lang="en-US" sz="1200" b="1" dirty="0">
                <a:solidFill>
                  <a:srgbClr val="2A2A2A"/>
                </a:solidFill>
                <a:latin typeface="Calibri" pitchFamily="34" charset="0"/>
                <a:ea typeface="Calibri" pitchFamily="34" charset="-122"/>
                <a:cs typeface="Calibri" pitchFamily="34" charset="-120"/>
              </a:rPr>
              <a:t>Puține: </a:t>
            </a:r>
            <a:r>
              <a:rPr lang="en-US" sz="1200" dirty="0">
                <a:solidFill>
                  <a:srgbClr val="2C5F2D"/>
                </a:solidFill>
                <a:latin typeface="Calibri" pitchFamily="34" charset="0"/>
                <a:ea typeface="Calibri" pitchFamily="34" charset="-122"/>
                <a:cs typeface="Calibri" pitchFamily="34" charset="-120"/>
              </a:rPr>
              <a:t>15.88 vs 16.46  </a:t>
            </a:r>
            <a:r>
              <a:rPr lang="en-US" sz="1200" dirty="0">
                <a:solidFill>
                  <a:srgbClr val="6B6B6B"/>
                </a:solidFill>
                <a:latin typeface="Calibri" pitchFamily="34" charset="0"/>
                <a:ea typeface="Calibri" pitchFamily="34" charset="-122"/>
                <a:cs typeface="Calibri" pitchFamily="34" charset="-120"/>
              </a:rPr>
              <a:t>·  </a:t>
            </a:r>
            <a:r>
              <a:rPr lang="en-US" sz="1200" b="1" dirty="0">
                <a:solidFill>
                  <a:srgbClr val="2A2A2A"/>
                </a:solidFill>
                <a:latin typeface="Calibri" pitchFamily="34" charset="0"/>
                <a:ea typeface="Calibri" pitchFamily="34" charset="-122"/>
                <a:cs typeface="Calibri" pitchFamily="34" charset="-120"/>
              </a:rPr>
              <a:t>Multe: </a:t>
            </a:r>
            <a:r>
              <a:rPr lang="en-US" sz="1200" dirty="0">
                <a:solidFill>
                  <a:srgbClr val="2C5F2D"/>
                </a:solidFill>
                <a:latin typeface="Calibri" pitchFamily="34" charset="0"/>
                <a:ea typeface="Calibri" pitchFamily="34" charset="-122"/>
                <a:cs typeface="Calibri" pitchFamily="34" charset="-120"/>
              </a:rPr>
              <a:t>54.86 vs 63.36  </a:t>
            </a:r>
            <a:r>
              <a:rPr lang="en-US" sz="1200" dirty="0">
                <a:solidFill>
                  <a:srgbClr val="6B6B6B"/>
                </a:solidFill>
                <a:latin typeface="Calibri" pitchFamily="34" charset="0"/>
                <a:ea typeface="Calibri" pitchFamily="34" charset="-122"/>
                <a:cs typeface="Calibri" pitchFamily="34" charset="-120"/>
              </a:rPr>
              <a:t>·  </a:t>
            </a:r>
            <a:r>
              <a:rPr lang="en-US" sz="1200" b="1" dirty="0">
                <a:solidFill>
                  <a:srgbClr val="2A2A2A"/>
                </a:solidFill>
                <a:latin typeface="Calibri" pitchFamily="34" charset="0"/>
                <a:ea typeface="Calibri" pitchFamily="34" charset="-122"/>
                <a:cs typeface="Calibri" pitchFamily="34" charset="-120"/>
              </a:rPr>
              <a:t>Circular: </a:t>
            </a:r>
            <a:r>
              <a:rPr lang="en-US" sz="1200" b="1" dirty="0">
                <a:solidFill>
                  <a:srgbClr val="B85042"/>
                </a:solidFill>
                <a:latin typeface="Calibri" pitchFamily="34" charset="0"/>
                <a:ea typeface="Calibri" pitchFamily="34" charset="-122"/>
                <a:cs typeface="Calibri" pitchFamily="34" charset="-120"/>
              </a:rPr>
              <a:t>61.15 vs 50.30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11247120" y="228600"/>
            <a:ext cx="64008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12 / 13</a:t>
            </a:r>
            <a:endParaRPr lang="en-US" sz="1000" dirty="0"/>
          </a:p>
        </p:txBody>
      </p:sp>
      <p:sp>
        <p:nvSpPr>
          <p:cNvPr id="3" name="Text 1"/>
          <p:cNvSpPr/>
          <p:nvPr/>
        </p:nvSpPr>
        <p:spPr>
          <a:xfrm>
            <a:off x="548640" y="320040"/>
            <a:ext cx="105156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Concluzii — ce am învățat</a:t>
            </a:r>
            <a:endParaRPr lang="en-US" sz="3000" dirty="0"/>
          </a:p>
        </p:txBody>
      </p:sp>
      <p:sp>
        <p:nvSpPr>
          <p:cNvPr id="4" name="Shape 2"/>
          <p:cNvSpPr/>
          <p:nvPr/>
        </p:nvSpPr>
        <p:spPr>
          <a:xfrm>
            <a:off x="457200" y="1463040"/>
            <a:ext cx="5486400" cy="219456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5" name="Shape 3"/>
          <p:cNvSpPr/>
          <p:nvPr/>
        </p:nvSpPr>
        <p:spPr>
          <a:xfrm>
            <a:off x="457200" y="1463040"/>
            <a:ext cx="91440" cy="2194560"/>
          </a:xfrm>
          <a:prstGeom prst="rect">
            <a:avLst/>
          </a:prstGeom>
          <a:solidFill>
            <a:srgbClr val="B85042"/>
          </a:solidFill>
          <a:ln/>
        </p:spPr>
      </p:sp>
      <p:sp>
        <p:nvSpPr>
          <p:cNvPr id="6" name="Text 4"/>
          <p:cNvSpPr/>
          <p:nvPr/>
        </p:nvSpPr>
        <p:spPr>
          <a:xfrm>
            <a:off x="731520" y="1691640"/>
            <a:ext cx="914400" cy="640080"/>
          </a:xfrm>
          <a:prstGeom prst="rect">
            <a:avLst/>
          </a:prstGeom>
          <a:noFill/>
          <a:ln/>
        </p:spPr>
        <p:txBody>
          <a:bodyPr wrap="square" lIns="0" tIns="0" rIns="0" bIns="0" rtlCol="0" anchor="ctr"/>
          <a:lstStyle/>
          <a:p>
            <a:pPr marL="0" indent="0">
              <a:buNone/>
            </a:pPr>
            <a:r>
              <a:rPr lang="en-US" sz="3200" b="1" dirty="0">
                <a:solidFill>
                  <a:srgbClr val="E7E8D1"/>
                </a:solidFill>
                <a:latin typeface="Georgia" pitchFamily="34" charset="0"/>
                <a:ea typeface="Georgia" pitchFamily="34" charset="-122"/>
                <a:cs typeface="Georgia" pitchFamily="34" charset="-120"/>
              </a:rPr>
              <a:t>01</a:t>
            </a:r>
            <a:endParaRPr lang="en-US" sz="3200" dirty="0"/>
          </a:p>
        </p:txBody>
      </p:sp>
      <p:sp>
        <p:nvSpPr>
          <p:cNvPr id="7" name="Text 5"/>
          <p:cNvSpPr/>
          <p:nvPr/>
        </p:nvSpPr>
        <p:spPr>
          <a:xfrm>
            <a:off x="1645920" y="1737360"/>
            <a:ext cx="4114800" cy="6400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Dubins ≠ linie dreaptă</a:t>
            </a:r>
            <a:endParaRPr lang="en-US" sz="1600" dirty="0"/>
          </a:p>
        </p:txBody>
      </p:sp>
      <p:sp>
        <p:nvSpPr>
          <p:cNvPr id="8" name="Text 6"/>
          <p:cNvSpPr/>
          <p:nvPr/>
        </p:nvSpPr>
        <p:spPr>
          <a:xfrm>
            <a:off x="731520" y="2423160"/>
            <a:ext cx="5029200" cy="1188720"/>
          </a:xfrm>
          <a:prstGeom prst="rect">
            <a:avLst/>
          </a:prstGeom>
          <a:noFill/>
          <a:ln/>
        </p:spPr>
        <p:txBody>
          <a:bodyPr wrap="square" rtlCol="0" anchor="ctr"/>
          <a:lstStyle/>
          <a:p>
            <a:pPr marL="0" indent="0">
              <a:buNone/>
            </a:pPr>
            <a:r>
              <a:rPr lang="en-US" sz="1200" dirty="0">
                <a:solidFill>
                  <a:srgbClr val="2A2A2A"/>
                </a:solidFill>
                <a:latin typeface="Calibri" pitchFamily="34" charset="0"/>
                <a:ea typeface="Calibri" pitchFamily="34" charset="-122"/>
                <a:cs typeface="Calibri" pitchFamily="34" charset="-120"/>
              </a:rPr>
              <a:t>Distanța relevantă e cea geometrică Dubins, nu cea euclidiană. Două puncte apropiate pot fi „departe" dacă orientările cer un ocol mare.</a:t>
            </a:r>
            <a:endParaRPr lang="en-US" sz="1200" dirty="0"/>
          </a:p>
        </p:txBody>
      </p:sp>
      <p:sp>
        <p:nvSpPr>
          <p:cNvPr id="9" name="Shape 7"/>
          <p:cNvSpPr/>
          <p:nvPr/>
        </p:nvSpPr>
        <p:spPr>
          <a:xfrm>
            <a:off x="6217920" y="1463040"/>
            <a:ext cx="5486400" cy="219456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10" name="Shape 8"/>
          <p:cNvSpPr/>
          <p:nvPr/>
        </p:nvSpPr>
        <p:spPr>
          <a:xfrm>
            <a:off x="6217920" y="1463040"/>
            <a:ext cx="91440" cy="2194560"/>
          </a:xfrm>
          <a:prstGeom prst="rect">
            <a:avLst/>
          </a:prstGeom>
          <a:solidFill>
            <a:srgbClr val="B85042"/>
          </a:solidFill>
          <a:ln/>
        </p:spPr>
      </p:sp>
      <p:sp>
        <p:nvSpPr>
          <p:cNvPr id="11" name="Text 9"/>
          <p:cNvSpPr/>
          <p:nvPr/>
        </p:nvSpPr>
        <p:spPr>
          <a:xfrm>
            <a:off x="6492240" y="1691640"/>
            <a:ext cx="914400" cy="640080"/>
          </a:xfrm>
          <a:prstGeom prst="rect">
            <a:avLst/>
          </a:prstGeom>
          <a:noFill/>
          <a:ln/>
        </p:spPr>
        <p:txBody>
          <a:bodyPr wrap="square" lIns="0" tIns="0" rIns="0" bIns="0" rtlCol="0" anchor="ctr"/>
          <a:lstStyle/>
          <a:p>
            <a:pPr marL="0" indent="0">
              <a:buNone/>
            </a:pPr>
            <a:r>
              <a:rPr lang="en-US" sz="3200" b="1" dirty="0">
                <a:solidFill>
                  <a:srgbClr val="E7E8D1"/>
                </a:solidFill>
                <a:latin typeface="Georgia" pitchFamily="34" charset="0"/>
                <a:ea typeface="Georgia" pitchFamily="34" charset="-122"/>
                <a:cs typeface="Georgia" pitchFamily="34" charset="-120"/>
              </a:rPr>
              <a:t>02</a:t>
            </a:r>
            <a:endParaRPr lang="en-US" sz="3200" dirty="0"/>
          </a:p>
        </p:txBody>
      </p:sp>
      <p:sp>
        <p:nvSpPr>
          <p:cNvPr id="12" name="Text 10"/>
          <p:cNvSpPr/>
          <p:nvPr/>
        </p:nvSpPr>
        <p:spPr>
          <a:xfrm>
            <a:off x="7406640" y="1737360"/>
            <a:ext cx="4114800" cy="6400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R_min controlează stilul traiectoriei</a:t>
            </a:r>
            <a:endParaRPr lang="en-US" sz="1600" dirty="0"/>
          </a:p>
        </p:txBody>
      </p:sp>
      <p:sp>
        <p:nvSpPr>
          <p:cNvPr id="13" name="Text 11"/>
          <p:cNvSpPr/>
          <p:nvPr/>
        </p:nvSpPr>
        <p:spPr>
          <a:xfrm>
            <a:off x="6492240" y="2423160"/>
            <a:ext cx="5029200" cy="1188720"/>
          </a:xfrm>
          <a:prstGeom prst="rect">
            <a:avLst/>
          </a:prstGeom>
          <a:noFill/>
          <a:ln/>
        </p:spPr>
        <p:txBody>
          <a:bodyPr wrap="square" rtlCol="0" anchor="ctr"/>
          <a:lstStyle/>
          <a:p>
            <a:pPr marL="0" indent="0">
              <a:buNone/>
            </a:pPr>
            <a:r>
              <a:rPr lang="en-US" sz="1200" dirty="0">
                <a:solidFill>
                  <a:srgbClr val="2A2A2A"/>
                </a:solidFill>
                <a:latin typeface="Calibri" pitchFamily="34" charset="0"/>
                <a:ea typeface="Calibri" pitchFamily="34" charset="-122"/>
                <a:cs typeface="Calibri" pitchFamily="34" charset="-120"/>
              </a:rPr>
              <a:t>R mic → zig-zag agresiv; R mare → arce largi, fluide. Lungimea totală scalează ~liniar cu R pe același tur.</a:t>
            </a:r>
            <a:endParaRPr lang="en-US" sz="1200" dirty="0"/>
          </a:p>
        </p:txBody>
      </p:sp>
      <p:sp>
        <p:nvSpPr>
          <p:cNvPr id="14" name="Shape 12"/>
          <p:cNvSpPr/>
          <p:nvPr/>
        </p:nvSpPr>
        <p:spPr>
          <a:xfrm>
            <a:off x="457200" y="3931920"/>
            <a:ext cx="5486400" cy="219456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15" name="Shape 13"/>
          <p:cNvSpPr/>
          <p:nvPr/>
        </p:nvSpPr>
        <p:spPr>
          <a:xfrm>
            <a:off x="457200" y="3931920"/>
            <a:ext cx="91440" cy="2194560"/>
          </a:xfrm>
          <a:prstGeom prst="rect">
            <a:avLst/>
          </a:prstGeom>
          <a:solidFill>
            <a:srgbClr val="B85042"/>
          </a:solidFill>
          <a:ln/>
        </p:spPr>
      </p:sp>
      <p:sp>
        <p:nvSpPr>
          <p:cNvPr id="16" name="Text 14"/>
          <p:cNvSpPr/>
          <p:nvPr/>
        </p:nvSpPr>
        <p:spPr>
          <a:xfrm>
            <a:off x="731520" y="4160520"/>
            <a:ext cx="914400" cy="640080"/>
          </a:xfrm>
          <a:prstGeom prst="rect">
            <a:avLst/>
          </a:prstGeom>
          <a:noFill/>
          <a:ln/>
        </p:spPr>
        <p:txBody>
          <a:bodyPr wrap="square" lIns="0" tIns="0" rIns="0" bIns="0" rtlCol="0" anchor="ctr"/>
          <a:lstStyle/>
          <a:p>
            <a:pPr marL="0" indent="0">
              <a:buNone/>
            </a:pPr>
            <a:r>
              <a:rPr lang="en-US" sz="3200" b="1" dirty="0">
                <a:solidFill>
                  <a:srgbClr val="E7E8D1"/>
                </a:solidFill>
                <a:latin typeface="Georgia" pitchFamily="34" charset="0"/>
                <a:ea typeface="Georgia" pitchFamily="34" charset="-122"/>
                <a:cs typeface="Georgia" pitchFamily="34" charset="-120"/>
              </a:rPr>
              <a:t>03</a:t>
            </a:r>
            <a:endParaRPr lang="en-US" sz="3200" dirty="0"/>
          </a:p>
        </p:txBody>
      </p:sp>
      <p:sp>
        <p:nvSpPr>
          <p:cNvPr id="17" name="Text 15"/>
          <p:cNvSpPr/>
          <p:nvPr/>
        </p:nvSpPr>
        <p:spPr>
          <a:xfrm>
            <a:off x="1645920" y="4206240"/>
            <a:ext cx="4114800" cy="6400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NN ≠ optim, dar e o bază bună</a:t>
            </a:r>
            <a:endParaRPr lang="en-US" sz="1600" dirty="0"/>
          </a:p>
        </p:txBody>
      </p:sp>
      <p:sp>
        <p:nvSpPr>
          <p:cNvPr id="18" name="Text 16"/>
          <p:cNvSpPr/>
          <p:nvPr/>
        </p:nvSpPr>
        <p:spPr>
          <a:xfrm>
            <a:off x="731520" y="4892040"/>
            <a:ext cx="5029200" cy="1188720"/>
          </a:xfrm>
          <a:prstGeom prst="rect">
            <a:avLst/>
          </a:prstGeom>
          <a:noFill/>
          <a:ln/>
        </p:spPr>
        <p:txBody>
          <a:bodyPr wrap="square" rtlCol="0" anchor="ctr"/>
          <a:lstStyle/>
          <a:p>
            <a:pPr marL="0" indent="0">
              <a:buNone/>
            </a:pPr>
            <a:r>
              <a:rPr lang="en-US" sz="1200" dirty="0">
                <a:solidFill>
                  <a:srgbClr val="2A2A2A"/>
                </a:solidFill>
                <a:latin typeface="Calibri" pitchFamily="34" charset="0"/>
                <a:ea typeface="Calibri" pitchFamily="34" charset="-122"/>
                <a:cs typeface="Calibri" pitchFamily="34" charset="-120"/>
              </a:rPr>
              <a:t>Pe seturi neregulate de puncte, NN bate frecvent ordinea aleatoare. Pe configurații simetrice (cerc), poate fi chiar mai prost.</a:t>
            </a:r>
            <a:endParaRPr lang="en-US" sz="1200" dirty="0"/>
          </a:p>
        </p:txBody>
      </p:sp>
      <p:sp>
        <p:nvSpPr>
          <p:cNvPr id="19" name="Shape 17"/>
          <p:cNvSpPr/>
          <p:nvPr/>
        </p:nvSpPr>
        <p:spPr>
          <a:xfrm>
            <a:off x="6217920" y="3931920"/>
            <a:ext cx="5486400" cy="2194560"/>
          </a:xfrm>
          <a:prstGeom prst="rect">
            <a:avLst/>
          </a:prstGeom>
          <a:solidFill>
            <a:srgbClr val="FFFFFF"/>
          </a:solidFill>
          <a:ln w="12700">
            <a:solidFill>
              <a:srgbClr val="E0E0DC"/>
            </a:solidFill>
            <a:prstDash val="solid"/>
          </a:ln>
          <a:effectLst>
            <a:outerShdw blurRad="101600" dist="25400" dir="8100000" algn="bl" rotWithShape="0">
              <a:srgbClr val="000000">
                <a:alpha val="8000"/>
              </a:srgbClr>
            </a:outerShdw>
          </a:effectLst>
        </p:spPr>
      </p:sp>
      <p:sp>
        <p:nvSpPr>
          <p:cNvPr id="20" name="Shape 18"/>
          <p:cNvSpPr/>
          <p:nvPr/>
        </p:nvSpPr>
        <p:spPr>
          <a:xfrm>
            <a:off x="6217920" y="3931920"/>
            <a:ext cx="91440" cy="2194560"/>
          </a:xfrm>
          <a:prstGeom prst="rect">
            <a:avLst/>
          </a:prstGeom>
          <a:solidFill>
            <a:srgbClr val="B85042"/>
          </a:solidFill>
          <a:ln/>
        </p:spPr>
      </p:sp>
      <p:sp>
        <p:nvSpPr>
          <p:cNvPr id="21" name="Text 19"/>
          <p:cNvSpPr/>
          <p:nvPr/>
        </p:nvSpPr>
        <p:spPr>
          <a:xfrm>
            <a:off x="6492240" y="4160520"/>
            <a:ext cx="914400" cy="640080"/>
          </a:xfrm>
          <a:prstGeom prst="rect">
            <a:avLst/>
          </a:prstGeom>
          <a:noFill/>
          <a:ln/>
        </p:spPr>
        <p:txBody>
          <a:bodyPr wrap="square" lIns="0" tIns="0" rIns="0" bIns="0" rtlCol="0" anchor="ctr"/>
          <a:lstStyle/>
          <a:p>
            <a:pPr marL="0" indent="0">
              <a:buNone/>
            </a:pPr>
            <a:r>
              <a:rPr lang="en-US" sz="3200" b="1" dirty="0">
                <a:solidFill>
                  <a:srgbClr val="E7E8D1"/>
                </a:solidFill>
                <a:latin typeface="Georgia" pitchFamily="34" charset="0"/>
                <a:ea typeface="Georgia" pitchFamily="34" charset="-122"/>
                <a:cs typeface="Georgia" pitchFamily="34" charset="-120"/>
              </a:rPr>
              <a:t>04</a:t>
            </a:r>
            <a:endParaRPr lang="en-US" sz="3200" dirty="0"/>
          </a:p>
        </p:txBody>
      </p:sp>
      <p:sp>
        <p:nvSpPr>
          <p:cNvPr id="22" name="Text 20"/>
          <p:cNvSpPr/>
          <p:nvPr/>
        </p:nvSpPr>
        <p:spPr>
          <a:xfrm>
            <a:off x="7406640" y="4206240"/>
            <a:ext cx="4114800" cy="6400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TSP euclidian ≠ TSP Dubins</a:t>
            </a:r>
            <a:endParaRPr lang="en-US" sz="1600" dirty="0"/>
          </a:p>
        </p:txBody>
      </p:sp>
      <p:sp>
        <p:nvSpPr>
          <p:cNvPr id="23" name="Text 21"/>
          <p:cNvSpPr/>
          <p:nvPr/>
        </p:nvSpPr>
        <p:spPr>
          <a:xfrm>
            <a:off x="6492240" y="4892040"/>
            <a:ext cx="5029200" cy="1188720"/>
          </a:xfrm>
          <a:prstGeom prst="rect">
            <a:avLst/>
          </a:prstGeom>
          <a:noFill/>
          <a:ln/>
        </p:spPr>
        <p:txBody>
          <a:bodyPr wrap="square" rtlCol="0" anchor="ctr"/>
          <a:lstStyle/>
          <a:p>
            <a:pPr marL="0" indent="0">
              <a:buNone/>
            </a:pPr>
            <a:r>
              <a:rPr lang="en-US" sz="1200" dirty="0">
                <a:solidFill>
                  <a:srgbClr val="2A2A2A"/>
                </a:solidFill>
                <a:latin typeface="Calibri" pitchFamily="34" charset="0"/>
                <a:ea typeface="Calibri" pitchFamily="34" charset="-122"/>
                <a:cs typeface="Calibri" pitchFamily="34" charset="-120"/>
              </a:rPr>
              <a:t>Optimizarea bazată pe distanțe euclidiene nu garantează cost Dubins minim. Pentru o îmbunătățire reală: 2-opt sau direct cost Dubins ca metric.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1795760" y="0"/>
            <a:ext cx="365760" cy="6858000"/>
          </a:xfrm>
          <a:prstGeom prst="rect">
            <a:avLst/>
          </a:prstGeom>
          <a:solidFill>
            <a:srgbClr val="B85042"/>
          </a:solidFill>
          <a:ln/>
        </p:spPr>
      </p:sp>
      <p:sp>
        <p:nvSpPr>
          <p:cNvPr id="3" name="Text 1"/>
          <p:cNvSpPr/>
          <p:nvPr/>
        </p:nvSpPr>
        <p:spPr>
          <a:xfrm>
            <a:off x="10607040" y="228600"/>
            <a:ext cx="640080" cy="274320"/>
          </a:xfrm>
          <a:prstGeom prst="rect">
            <a:avLst/>
          </a:prstGeom>
          <a:noFill/>
          <a:ln/>
        </p:spPr>
        <p:txBody>
          <a:bodyPr wrap="square" rtlCol="0" anchor="ctr"/>
          <a:lstStyle/>
          <a:p>
            <a:pPr marL="0" indent="0" algn="r">
              <a:buNone/>
            </a:pPr>
            <a:r>
              <a:rPr lang="en-US" sz="1000" dirty="0">
                <a:solidFill>
                  <a:srgbClr val="E7E8D1"/>
                </a:solidFill>
                <a:latin typeface="Calibri" pitchFamily="34" charset="0"/>
                <a:ea typeface="Calibri" pitchFamily="34" charset="-122"/>
                <a:cs typeface="Calibri" pitchFamily="34" charset="-120"/>
              </a:rPr>
              <a:t>13</a:t>
            </a:r>
            <a:endParaRPr lang="en-US" sz="1000" dirty="0"/>
          </a:p>
        </p:txBody>
      </p:sp>
      <p:sp>
        <p:nvSpPr>
          <p:cNvPr id="4" name="Text 2"/>
          <p:cNvSpPr/>
          <p:nvPr/>
        </p:nvSpPr>
        <p:spPr>
          <a:xfrm>
            <a:off x="914400" y="1645920"/>
            <a:ext cx="10058400" cy="365760"/>
          </a:xfrm>
          <a:prstGeom prst="rect">
            <a:avLst/>
          </a:prstGeom>
          <a:noFill/>
          <a:ln/>
        </p:spPr>
        <p:txBody>
          <a:bodyPr wrap="square" rtlCol="0" anchor="ctr"/>
          <a:lstStyle/>
          <a:p>
            <a:pPr marL="0" indent="0">
              <a:buNone/>
            </a:pPr>
            <a:r>
              <a:rPr lang="en-US" sz="1400" b="1" kern="0" spc="400" dirty="0">
                <a:solidFill>
                  <a:srgbClr val="B85042"/>
                </a:solidFill>
                <a:latin typeface="Calibri" pitchFamily="34" charset="0"/>
                <a:ea typeface="Calibri" pitchFamily="34" charset="-122"/>
                <a:cs typeface="Calibri" pitchFamily="34" charset="-120"/>
              </a:rPr>
              <a:t>DEMO LIVE</a:t>
            </a:r>
            <a:endParaRPr lang="en-US" sz="1400" dirty="0"/>
          </a:p>
        </p:txBody>
      </p:sp>
      <p:sp>
        <p:nvSpPr>
          <p:cNvPr id="5" name="Text 3"/>
          <p:cNvSpPr/>
          <p:nvPr/>
        </p:nvSpPr>
        <p:spPr>
          <a:xfrm>
            <a:off x="914400" y="2103120"/>
            <a:ext cx="10058400" cy="137160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Mulțumim!</a:t>
            </a:r>
            <a:endParaRPr lang="en-US" sz="6400" dirty="0"/>
          </a:p>
        </p:txBody>
      </p:sp>
      <p:sp>
        <p:nvSpPr>
          <p:cNvPr id="6" name="Text 4"/>
          <p:cNvSpPr/>
          <p:nvPr/>
        </p:nvSpPr>
        <p:spPr>
          <a:xfrm>
            <a:off x="914400" y="3657600"/>
            <a:ext cx="10058400" cy="640080"/>
          </a:xfrm>
          <a:prstGeom prst="rect">
            <a:avLst/>
          </a:prstGeom>
          <a:noFill/>
          <a:ln/>
        </p:spPr>
        <p:txBody>
          <a:bodyPr wrap="square" rtlCol="0" anchor="ctr"/>
          <a:lstStyle/>
          <a:p>
            <a:pPr marL="0" indent="0">
              <a:buNone/>
            </a:pPr>
            <a:r>
              <a:rPr lang="en-US" sz="2400" i="1" dirty="0">
                <a:solidFill>
                  <a:srgbClr val="E7E8D1"/>
                </a:solidFill>
                <a:latin typeface="Georgia" pitchFamily="34" charset="0"/>
                <a:ea typeface="Georgia" pitchFamily="34" charset="-122"/>
                <a:cs typeface="Georgia" pitchFamily="34" charset="-120"/>
              </a:rPr>
              <a:t>Întrebări?</a:t>
            </a:r>
            <a:endParaRPr lang="en-US" sz="2400" dirty="0"/>
          </a:p>
        </p:txBody>
      </p:sp>
      <p:sp>
        <p:nvSpPr>
          <p:cNvPr id="7" name="Shape 5"/>
          <p:cNvSpPr/>
          <p:nvPr/>
        </p:nvSpPr>
        <p:spPr>
          <a:xfrm>
            <a:off x="914400" y="4754880"/>
            <a:ext cx="2286000" cy="0"/>
          </a:xfrm>
          <a:prstGeom prst="line">
            <a:avLst/>
          </a:prstGeom>
          <a:noFill/>
          <a:ln w="38100">
            <a:solidFill>
              <a:srgbClr val="B85042"/>
            </a:solidFill>
            <a:prstDash val="solid"/>
          </a:ln>
        </p:spPr>
      </p:sp>
      <p:sp>
        <p:nvSpPr>
          <p:cNvPr id="8" name="Text 6"/>
          <p:cNvSpPr/>
          <p:nvPr/>
        </p:nvSpPr>
        <p:spPr>
          <a:xfrm>
            <a:off x="914400" y="4937760"/>
            <a:ext cx="10058400" cy="365760"/>
          </a:xfrm>
          <a:prstGeom prst="rect">
            <a:avLst/>
          </a:prstGeom>
          <a:noFill/>
          <a:ln/>
        </p:spPr>
        <p:txBody>
          <a:bodyPr wrap="square" rtlCol="0" anchor="ctr"/>
          <a:lstStyle/>
          <a:p>
            <a:pPr marL="0" indent="0">
              <a:buNone/>
            </a:pPr>
            <a:endParaRPr lang="en-US" sz="1400" dirty="0"/>
          </a:p>
        </p:txBody>
      </p:sp>
      <p:sp>
        <p:nvSpPr>
          <p:cNvPr id="9" name="Text 7"/>
          <p:cNvSpPr/>
          <p:nvPr/>
        </p:nvSpPr>
        <p:spPr>
          <a:xfrm>
            <a:off x="914400" y="5349240"/>
            <a:ext cx="10058400" cy="1371600"/>
          </a:xfrm>
          <a:prstGeom prst="rect">
            <a:avLst/>
          </a:prstGeom>
          <a:noFill/>
          <a:ln/>
        </p:spPr>
        <p:txBody>
          <a:bodyPr wrap="square" rtlCol="0" anchor="ctr"/>
          <a:lstStyle/>
          <a:p>
            <a:pPr marL="342900" indent="-342900">
              <a:spcAft>
                <a:spcPts val="400"/>
              </a:spcAft>
              <a:buSzPct val="100000"/>
              <a:buChar char="•"/>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1417</Words>
  <Application>Microsoft Office PowerPoint</Application>
  <PresentationFormat>Widescreen</PresentationFormat>
  <Paragraphs>189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Dubins + TSP</dc:title>
  <dc:subject>PptxGenJS Presentation</dc:subject>
  <dc:creator>Echipa SPER</dc:creator>
  <cp:lastModifiedBy>BIANCA-CRISTINA MATARA</cp:lastModifiedBy>
  <cp:revision>3</cp:revision>
  <dcterms:created xsi:type="dcterms:W3CDTF">2026-05-15T19:18:29Z</dcterms:created>
  <dcterms:modified xsi:type="dcterms:W3CDTF">2026-05-15T19:23:44Z</dcterms:modified>
</cp:coreProperties>
</file>